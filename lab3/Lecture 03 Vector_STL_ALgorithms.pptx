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7"/>
  </p:notesMasterIdLst>
  <p:sldIdLst>
    <p:sldId id="273" r:id="rId5"/>
    <p:sldId id="274" r:id="rId6"/>
    <p:sldId id="307" r:id="rId7"/>
    <p:sldId id="256" r:id="rId8"/>
    <p:sldId id="260" r:id="rId9"/>
    <p:sldId id="308" r:id="rId10"/>
    <p:sldId id="257" r:id="rId11"/>
    <p:sldId id="262" r:id="rId12"/>
    <p:sldId id="258" r:id="rId13"/>
    <p:sldId id="309" r:id="rId14"/>
    <p:sldId id="310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311" r:id="rId23"/>
    <p:sldId id="275" r:id="rId24"/>
    <p:sldId id="276" r:id="rId25"/>
    <p:sldId id="30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5465"/>
    <a:srgbClr val="4EB47D"/>
    <a:srgbClr val="2AC5F4"/>
    <a:srgbClr val="FCCA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49"/>
    <p:restoredTop sz="94710"/>
  </p:normalViewPr>
  <p:slideViewPr>
    <p:cSldViewPr snapToGrid="0" snapToObjects="1">
      <p:cViewPr varScale="1">
        <p:scale>
          <a:sx n="56" d="100"/>
          <a:sy n="56" d="100"/>
        </p:scale>
        <p:origin x="91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3BCE77-B54E-3A42-B83D-E47948276DF4}" type="datetimeFigureOut">
              <a:rPr lang="en-IE" smtClean="0"/>
              <a:t>17/09/2026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FAF12F-5E31-5D40-A1F6-5310737259C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76351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slide in three stages:
1. Vector is an expandable ordered collection.
2. Show scores as boxes with indices and remind students indexing starts from zero.
3. Connect the methods to real game data: adding enemies, accessing scores, and modifying an element. Ask: what would happen when a new enemy appears during gameplay?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click-through explanation:
1. Start with the one-sentence definition: vector is an expandable row.
2. Explain the visual row: values are kept in order and each value has an index.
3. Ask students: what is scores[2]? Then reveal/direct attention to 30.
4. Point at the dashed new box to show how push_back adds a new element.
5. End with the operation strip and connect it to game objects: enemies, bullets, inventory, scores.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push_back and pop_back. Ask students whether pop_back removes from the front or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this slow and clear. This is one of the main concepts of the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Week 2. The difference now is we are using the iterator to change data, not only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make this a full complexity discussion. Say we will compare operations formally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conceptual. Use the diagram. Students do not need allocator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creates the need for lambdas. Do not define lambda too early. Let the need arise from the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lambda at beginner level: input goes in, true/false comes out. Mention capture list only as the place where external variables can be used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code as English. Stress that find_if stops at the first element where the lambda returns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dwell too long on references. Explain just enough: no copy, no modification.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new logical end. It is a position, not a deletion. The vector still has the same physical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should be clear enough for students to remember. Say: remove_if is an algorithm, erase belongs to the vector container.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by telling students the lecture is now going to become code in the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Soli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D581C-CAB0-510C-82E0-00B56B5001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8000" y="1404000"/>
            <a:ext cx="4795777" cy="1894785"/>
          </a:xfrm>
        </p:spPr>
        <p:txBody>
          <a:bodyPr anchor="t">
            <a:normAutofit/>
          </a:bodyPr>
          <a:lstStyle>
            <a:lvl1pPr algn="l"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I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7603E4-3719-5019-A637-4BDBAFE6D8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8000" y="3298785"/>
            <a:ext cx="4795777" cy="993681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IE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B9ED394B-2456-048A-F0B1-2FFF136732AE}"/>
              </a:ext>
            </a:extLst>
          </p:cNvPr>
          <p:cNvSpPr>
            <a:spLocks noChangeAspect="1"/>
          </p:cNvSpPr>
          <p:nvPr userDrawn="1"/>
        </p:nvSpPr>
        <p:spPr>
          <a:xfrm>
            <a:off x="6804000" y="1"/>
            <a:ext cx="4644000" cy="5153487"/>
          </a:xfrm>
          <a:custGeom>
            <a:avLst/>
            <a:gdLst>
              <a:gd name="connsiteX0" fmla="*/ 0 w 5562600"/>
              <a:gd name="connsiteY0" fmla="*/ 0 h 6172200"/>
              <a:gd name="connsiteX1" fmla="*/ 5562600 w 5562600"/>
              <a:gd name="connsiteY1" fmla="*/ 0 h 6172200"/>
              <a:gd name="connsiteX2" fmla="*/ 5562600 w 5562600"/>
              <a:gd name="connsiteY2" fmla="*/ 3818433 h 6172200"/>
              <a:gd name="connsiteX3" fmla="*/ 5562600 w 5562600"/>
              <a:gd name="connsiteY3" fmla="*/ 3979266 h 6172200"/>
              <a:gd name="connsiteX4" fmla="*/ 5553004 w 5562600"/>
              <a:gd name="connsiteY4" fmla="*/ 3979266 h 6172200"/>
              <a:gd name="connsiteX5" fmla="*/ 5548240 w 5562600"/>
              <a:gd name="connsiteY5" fmla="*/ 4059092 h 6172200"/>
              <a:gd name="connsiteX6" fmla="*/ 2781300 w 5562600"/>
              <a:gd name="connsiteY6" fmla="*/ 6172200 h 6172200"/>
              <a:gd name="connsiteX7" fmla="*/ 14360 w 5562600"/>
              <a:gd name="connsiteY7" fmla="*/ 4059092 h 6172200"/>
              <a:gd name="connsiteX8" fmla="*/ 9597 w 5562600"/>
              <a:gd name="connsiteY8" fmla="*/ 3979266 h 6172200"/>
              <a:gd name="connsiteX9" fmla="*/ 0 w 5562600"/>
              <a:gd name="connsiteY9" fmla="*/ 3979266 h 6172200"/>
              <a:gd name="connsiteX10" fmla="*/ 0 w 5562600"/>
              <a:gd name="connsiteY10" fmla="*/ 3818433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562600" h="6172200">
                <a:moveTo>
                  <a:pt x="0" y="0"/>
                </a:moveTo>
                <a:lnTo>
                  <a:pt x="5562600" y="0"/>
                </a:lnTo>
                <a:lnTo>
                  <a:pt x="5562600" y="3818433"/>
                </a:lnTo>
                <a:lnTo>
                  <a:pt x="5562600" y="3979266"/>
                </a:lnTo>
                <a:lnTo>
                  <a:pt x="5553004" y="3979266"/>
                </a:lnTo>
                <a:lnTo>
                  <a:pt x="5548240" y="4059092"/>
                </a:lnTo>
                <a:cubicBezTo>
                  <a:pt x="5405810" y="5245994"/>
                  <a:pt x="4221366" y="6172200"/>
                  <a:pt x="2781300" y="6172200"/>
                </a:cubicBezTo>
                <a:cubicBezTo>
                  <a:pt x="1341235" y="6172200"/>
                  <a:pt x="156790" y="5245994"/>
                  <a:pt x="14360" y="4059092"/>
                </a:cubicBezTo>
                <a:lnTo>
                  <a:pt x="9597" y="3979266"/>
                </a:lnTo>
                <a:lnTo>
                  <a:pt x="0" y="3979266"/>
                </a:lnTo>
                <a:lnTo>
                  <a:pt x="0" y="381843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E">
              <a:solidFill>
                <a:schemeClr val="bg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F1B8DA2-9CF4-95BB-C088-07152AE89F5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600000" y="5724000"/>
            <a:ext cx="14986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545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Pic opt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B71B9E8-787C-BFC6-50C9-FF536DFE599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11113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I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915BD-96FB-EDF9-2DB5-2FFB3D57D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000" y="2232001"/>
            <a:ext cx="4440000" cy="1719514"/>
          </a:xfrm>
        </p:spPr>
        <p:txBody>
          <a:bodyPr anchor="t">
            <a:norm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I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ECB8F-268E-894D-75CC-E746A8937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56000" y="3951515"/>
            <a:ext cx="4440000" cy="109014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3232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Pic opt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B71B9E8-787C-BFC6-50C9-FF536DFE599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11113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I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915BD-96FB-EDF9-2DB5-2FFB3D57D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000" y="2232001"/>
            <a:ext cx="4440000" cy="1719514"/>
          </a:xfrm>
        </p:spPr>
        <p:txBody>
          <a:bodyPr anchor="t">
            <a:norm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I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ECB8F-268E-894D-75CC-E746A8937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56000" y="3951515"/>
            <a:ext cx="4440000" cy="109014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8872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P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C0DC37C2-C5F4-2F46-E244-F459EA590B5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11113" indent="0" algn="ctr">
              <a:buNone/>
              <a:defRPr>
                <a:solidFill>
                  <a:srgbClr val="435465"/>
                </a:solidFill>
              </a:defRPr>
            </a:lvl1pPr>
          </a:lstStyle>
          <a:p>
            <a:endParaRPr lang="en-I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AD581C-CAB0-510C-82E0-00B56B5001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64000" y="1404000"/>
            <a:ext cx="4795777" cy="1894785"/>
          </a:xfrm>
        </p:spPr>
        <p:txBody>
          <a:bodyPr anchor="t">
            <a:normAutofit/>
          </a:bodyPr>
          <a:lstStyle>
            <a:lvl1pPr algn="l">
              <a:defRPr sz="4200">
                <a:solidFill>
                  <a:srgbClr val="435465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I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7603E4-3719-5019-A637-4BDBAFE6D8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64000" y="3298785"/>
            <a:ext cx="4795777" cy="993681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3546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501728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4AAEB-1F04-C6C3-D097-5035F4463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0" y="720000"/>
            <a:ext cx="5022000" cy="3348000"/>
          </a:xfrm>
        </p:spPr>
        <p:txBody>
          <a:bodyPr>
            <a:normAutofit/>
          </a:bodyPr>
          <a:lstStyle>
            <a:lvl1pPr>
              <a:defRPr sz="4400">
                <a:solidFill>
                  <a:srgbClr val="435465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A2248C-0CB2-C53C-7A89-AB886BB62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Data Structures and Algorithms, Week 3 </a:t>
            </a:r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475853-1759-118B-503B-CC1045EB5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5850013-0FED-DB4F-A95E-FFF4A5127B9C}" type="slidenum">
              <a:rPr lang="en-IE" smtClean="0"/>
              <a:pPr/>
              <a:t>‹#›</a:t>
            </a:fld>
            <a:endParaRPr lang="en-IE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0924288-5A6F-2E71-1819-16487FBDA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0000" y="2395544"/>
            <a:ext cx="5022000" cy="3348000"/>
          </a:xfrm>
        </p:spPr>
        <p:txBody>
          <a:bodyPr/>
          <a:lstStyle>
            <a:lvl1pPr>
              <a:defRPr>
                <a:solidFill>
                  <a:srgbClr val="435465"/>
                </a:solidFill>
              </a:defRPr>
            </a:lvl1pPr>
            <a:lvl2pPr>
              <a:defRPr>
                <a:solidFill>
                  <a:srgbClr val="435465"/>
                </a:solidFill>
              </a:defRPr>
            </a:lvl2pPr>
            <a:lvl3pPr>
              <a:defRPr>
                <a:solidFill>
                  <a:srgbClr val="435465"/>
                </a:solidFill>
              </a:defRPr>
            </a:lvl3pPr>
            <a:lvl4pPr>
              <a:defRPr>
                <a:solidFill>
                  <a:srgbClr val="435465"/>
                </a:solidFill>
              </a:defRPr>
            </a:lvl4pPr>
            <a:lvl5pPr>
              <a:defRPr>
                <a:solidFill>
                  <a:srgbClr val="435465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IE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958DFC2-2D2A-A288-E682-B00B02DDB0AA}"/>
              </a:ext>
            </a:extLst>
          </p:cNvPr>
          <p:cNvCxnSpPr>
            <a:cxnSpLocks/>
          </p:cNvCxnSpPr>
          <p:nvPr userDrawn="1"/>
        </p:nvCxnSpPr>
        <p:spPr>
          <a:xfrm>
            <a:off x="11352674" y="6135438"/>
            <a:ext cx="0" cy="180000"/>
          </a:xfrm>
          <a:prstGeom prst="line">
            <a:avLst/>
          </a:prstGeom>
          <a:ln w="28575">
            <a:solidFill>
              <a:srgbClr val="2AC5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0255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1835E2D1-7D18-3674-9511-2450B7CAA4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11113" indent="0" algn="ctr">
              <a:buNone/>
              <a:defRPr>
                <a:solidFill>
                  <a:srgbClr val="435465"/>
                </a:solidFill>
              </a:defRPr>
            </a:lvl1pPr>
          </a:lstStyle>
          <a:p>
            <a:endParaRPr lang="en-I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24AAEB-1F04-C6C3-D097-5035F4463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0" y="720000"/>
            <a:ext cx="5022000" cy="3348000"/>
          </a:xfrm>
        </p:spPr>
        <p:txBody>
          <a:bodyPr>
            <a:normAutofit/>
          </a:bodyPr>
          <a:lstStyle>
            <a:lvl1pPr>
              <a:defRPr sz="4400">
                <a:solidFill>
                  <a:srgbClr val="435465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A2248C-0CB2-C53C-7A89-AB886BB62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Data Structures and Algorithms, Week 3 </a:t>
            </a:r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475853-1759-118B-503B-CC1045EB5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5850013-0FED-DB4F-A95E-FFF4A5127B9C}" type="slidenum">
              <a:rPr lang="en-IE" smtClean="0"/>
              <a:pPr/>
              <a:t>‹#›</a:t>
            </a:fld>
            <a:endParaRPr lang="en-IE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0924288-5A6F-2E71-1819-16487FBDA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0000" y="2395544"/>
            <a:ext cx="5022000" cy="3348000"/>
          </a:xfrm>
        </p:spPr>
        <p:txBody>
          <a:bodyPr/>
          <a:lstStyle>
            <a:lvl1pPr>
              <a:defRPr>
                <a:solidFill>
                  <a:srgbClr val="435465"/>
                </a:solidFill>
              </a:defRPr>
            </a:lvl1pPr>
            <a:lvl2pPr>
              <a:defRPr>
                <a:solidFill>
                  <a:srgbClr val="435465"/>
                </a:solidFill>
              </a:defRPr>
            </a:lvl2pPr>
            <a:lvl3pPr>
              <a:defRPr>
                <a:solidFill>
                  <a:srgbClr val="435465"/>
                </a:solidFill>
              </a:defRPr>
            </a:lvl3pPr>
            <a:lvl4pPr>
              <a:defRPr>
                <a:solidFill>
                  <a:srgbClr val="435465"/>
                </a:solidFill>
              </a:defRPr>
            </a:lvl4pPr>
            <a:lvl5pPr>
              <a:defRPr>
                <a:solidFill>
                  <a:srgbClr val="435465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IE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B69B910-7084-2A45-53F6-92544F0F233C}"/>
              </a:ext>
            </a:extLst>
          </p:cNvPr>
          <p:cNvCxnSpPr>
            <a:cxnSpLocks/>
          </p:cNvCxnSpPr>
          <p:nvPr userDrawn="1"/>
        </p:nvCxnSpPr>
        <p:spPr>
          <a:xfrm>
            <a:off x="11352674" y="6135438"/>
            <a:ext cx="0" cy="180000"/>
          </a:xfrm>
          <a:prstGeom prst="line">
            <a:avLst/>
          </a:prstGeom>
          <a:ln w="28575">
            <a:solidFill>
              <a:srgbClr val="2AC5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9447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4AAEB-1F04-C6C3-D097-5035F4463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20000"/>
            <a:ext cx="3248229" cy="3348000"/>
          </a:xfrm>
        </p:spPr>
        <p:txBody>
          <a:bodyPr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A2248C-0CB2-C53C-7A89-AB886BB62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Data Structures and Algorithms, Week 3 </a:t>
            </a:r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475853-1759-118B-503B-CC1045EB5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5850013-0FED-DB4F-A95E-FFF4A5127B9C}" type="slidenum">
              <a:rPr lang="en-IE" smtClean="0"/>
              <a:pPr/>
              <a:t>‹#›</a:t>
            </a:fld>
            <a:endParaRPr lang="en-IE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D6AE94F-8A91-54B3-3103-4CD6705B4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28000" y="720000"/>
            <a:ext cx="5328000" cy="3348000"/>
          </a:xfrm>
        </p:spPr>
        <p:txBody>
          <a:bodyPr>
            <a:noAutofit/>
          </a:bodyPr>
          <a:lstStyle>
            <a:lvl1pPr marL="0" indent="0" algn="l">
              <a:buNone/>
              <a:defRPr sz="4400" b="1">
                <a:solidFill>
                  <a:schemeClr val="bg1"/>
                </a:solidFill>
                <a:latin typeface="DM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IE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5EC2DDB-9DB4-9001-A328-07219DC6A27A}"/>
              </a:ext>
            </a:extLst>
          </p:cNvPr>
          <p:cNvCxnSpPr>
            <a:cxnSpLocks/>
          </p:cNvCxnSpPr>
          <p:nvPr userDrawn="1"/>
        </p:nvCxnSpPr>
        <p:spPr>
          <a:xfrm>
            <a:off x="11352674" y="6135438"/>
            <a:ext cx="0" cy="180000"/>
          </a:xfrm>
          <a:prstGeom prst="line">
            <a:avLst/>
          </a:prstGeom>
          <a:ln w="28575">
            <a:solidFill>
              <a:srgbClr val="2AC5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3231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7814A-94C2-DE5A-0245-1BFDD4F58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39AC-F949-294E-F4B1-934CB4F12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I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9BB27-67B0-04CE-0234-3D6301DFE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Algorithms, Week 3 </a:t>
            </a:r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95C37-86FC-8938-CBD5-FE8614B2D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‹#›</a:t>
            </a:fld>
            <a:endParaRPr lang="en-I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8F21E6-B6C2-EEAF-F707-B44661A7198B}"/>
              </a:ext>
            </a:extLst>
          </p:cNvPr>
          <p:cNvCxnSpPr>
            <a:cxnSpLocks/>
          </p:cNvCxnSpPr>
          <p:nvPr userDrawn="1"/>
        </p:nvCxnSpPr>
        <p:spPr>
          <a:xfrm>
            <a:off x="11352674" y="6135438"/>
            <a:ext cx="0" cy="180000"/>
          </a:xfrm>
          <a:prstGeom prst="line">
            <a:avLst/>
          </a:prstGeom>
          <a:ln w="28575">
            <a:solidFill>
              <a:srgbClr val="2AC5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220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994AE-2E6A-0641-FF5B-8990792FC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19999"/>
            <a:ext cx="3348000" cy="334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I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4D31E-D59D-E6B3-541A-C5068CC4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Algorithms, Week 3 </a:t>
            </a:r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FFBEC-147F-7540-A974-B68CBC0D7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‹#›</a:t>
            </a:fld>
            <a:endParaRPr lang="en-IE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B7F97B-2ADA-0420-312C-421B2ABEBAA9}"/>
              </a:ext>
            </a:extLst>
          </p:cNvPr>
          <p:cNvCxnSpPr>
            <a:cxnSpLocks/>
          </p:cNvCxnSpPr>
          <p:nvPr userDrawn="1"/>
        </p:nvCxnSpPr>
        <p:spPr>
          <a:xfrm>
            <a:off x="11352674" y="6135438"/>
            <a:ext cx="0" cy="180000"/>
          </a:xfrm>
          <a:prstGeom prst="line">
            <a:avLst/>
          </a:prstGeom>
          <a:ln w="28575">
            <a:solidFill>
              <a:srgbClr val="2AC5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itle 2">
            <a:extLst>
              <a:ext uri="{FF2B5EF4-FFF2-40B4-BE49-F238E27FC236}">
                <a16:creationId xmlns:a16="http://schemas.microsoft.com/office/drawing/2014/main" id="{EBCE07BB-A77C-E6C1-170F-F31B22AD8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28000" y="720000"/>
            <a:ext cx="5328000" cy="3348000"/>
          </a:xfrm>
        </p:spPr>
        <p:txBody>
          <a:bodyPr>
            <a:noAutofit/>
          </a:bodyPr>
          <a:lstStyle>
            <a:lvl1pPr marL="0" indent="0" algn="l">
              <a:buNone/>
              <a:defRPr sz="4400" b="1">
                <a:solidFill>
                  <a:srgbClr val="435465"/>
                </a:solidFill>
                <a:latin typeface="DM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365906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7814A-94C2-DE5A-0245-1BFDD4F58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39AC-F949-294E-F4B1-934CB4F12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2000" y="2254147"/>
            <a:ext cx="5652000" cy="33480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I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9BB27-67B0-04CE-0234-3D6301DFE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Algorithms, Week 3 </a:t>
            </a:r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95C37-86FC-8938-CBD5-FE8614B2D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‹#›</a:t>
            </a:fld>
            <a:endParaRPr lang="en-I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8F21E6-B6C2-EEAF-F707-B44661A7198B}"/>
              </a:ext>
            </a:extLst>
          </p:cNvPr>
          <p:cNvCxnSpPr>
            <a:cxnSpLocks/>
          </p:cNvCxnSpPr>
          <p:nvPr userDrawn="1"/>
        </p:nvCxnSpPr>
        <p:spPr>
          <a:xfrm>
            <a:off x="11352674" y="6135438"/>
            <a:ext cx="0" cy="180000"/>
          </a:xfrm>
          <a:prstGeom prst="line">
            <a:avLst/>
          </a:prstGeom>
          <a:ln w="28575">
            <a:solidFill>
              <a:srgbClr val="2AC5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ubtitle 2">
            <a:extLst>
              <a:ext uri="{FF2B5EF4-FFF2-40B4-BE49-F238E27FC236}">
                <a16:creationId xmlns:a16="http://schemas.microsoft.com/office/drawing/2014/main" id="{AD5FA3AB-99EB-58AE-1302-73F7EA825391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5112000" y="719999"/>
            <a:ext cx="5652000" cy="1531586"/>
          </a:xfrm>
        </p:spPr>
        <p:txBody>
          <a:bodyPr>
            <a:noAutofit/>
          </a:bodyPr>
          <a:lstStyle>
            <a:lvl1pPr marL="0" indent="0" algn="l">
              <a:buNone/>
              <a:defRPr sz="2500" b="1">
                <a:solidFill>
                  <a:srgbClr val="435465"/>
                </a:solidFill>
                <a:latin typeface="DM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03990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7814A-94C2-DE5A-0245-1BFDD4F58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19999"/>
            <a:ext cx="3348000" cy="3348000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39AC-F949-294E-F4B1-934CB4F12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2000" y="2254147"/>
            <a:ext cx="5652000" cy="334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I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9BB27-67B0-04CE-0234-3D6301DFE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Data Structures and Algorithms, Week 3 </a:t>
            </a:r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95C37-86FC-8938-CBD5-FE8614B2D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5850013-0FED-DB4F-A95E-FFF4A5127B9C}" type="slidenum">
              <a:rPr lang="en-IE" smtClean="0"/>
              <a:pPr/>
              <a:t>‹#›</a:t>
            </a:fld>
            <a:endParaRPr lang="en-I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8F21E6-B6C2-EEAF-F707-B44661A7198B}"/>
              </a:ext>
            </a:extLst>
          </p:cNvPr>
          <p:cNvCxnSpPr>
            <a:cxnSpLocks/>
          </p:cNvCxnSpPr>
          <p:nvPr userDrawn="1"/>
        </p:nvCxnSpPr>
        <p:spPr>
          <a:xfrm>
            <a:off x="11352674" y="6135438"/>
            <a:ext cx="0" cy="180000"/>
          </a:xfrm>
          <a:prstGeom prst="line">
            <a:avLst/>
          </a:prstGeom>
          <a:ln w="28575">
            <a:solidFill>
              <a:srgbClr val="2AC5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ubtitle 2">
            <a:extLst>
              <a:ext uri="{FF2B5EF4-FFF2-40B4-BE49-F238E27FC236}">
                <a16:creationId xmlns:a16="http://schemas.microsoft.com/office/drawing/2014/main" id="{AD5FA3AB-99EB-58AE-1302-73F7EA825391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5112000" y="719999"/>
            <a:ext cx="5652000" cy="1531586"/>
          </a:xfrm>
        </p:spPr>
        <p:txBody>
          <a:bodyPr>
            <a:noAutofit/>
          </a:bodyPr>
          <a:lstStyle>
            <a:lvl1pPr marL="0" indent="0" algn="l">
              <a:buNone/>
              <a:defRPr sz="2500" b="1">
                <a:solidFill>
                  <a:schemeClr val="bg1"/>
                </a:solidFill>
                <a:latin typeface="DM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824959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994AE-2E6A-0641-FF5B-8990792FC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19999"/>
            <a:ext cx="3348000" cy="334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I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4D31E-D59D-E6B3-541A-C5068CC4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Algorithms, Week 3 </a:t>
            </a:r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FFBEC-147F-7540-A974-B68CBC0D7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‹#›</a:t>
            </a:fld>
            <a:endParaRPr lang="en-IE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B7F97B-2ADA-0420-312C-421B2ABEBAA9}"/>
              </a:ext>
            </a:extLst>
          </p:cNvPr>
          <p:cNvCxnSpPr>
            <a:cxnSpLocks/>
          </p:cNvCxnSpPr>
          <p:nvPr userDrawn="1"/>
        </p:nvCxnSpPr>
        <p:spPr>
          <a:xfrm>
            <a:off x="11352674" y="6135438"/>
            <a:ext cx="0" cy="180000"/>
          </a:xfrm>
          <a:prstGeom prst="line">
            <a:avLst/>
          </a:prstGeom>
          <a:ln w="28575">
            <a:solidFill>
              <a:srgbClr val="2AC5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itle 2">
            <a:extLst>
              <a:ext uri="{FF2B5EF4-FFF2-40B4-BE49-F238E27FC236}">
                <a16:creationId xmlns:a16="http://schemas.microsoft.com/office/drawing/2014/main" id="{EBCE07BB-A77C-E6C1-170F-F31B22AD8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28000" y="720000"/>
            <a:ext cx="5328000" cy="3348000"/>
          </a:xfrm>
        </p:spPr>
        <p:txBody>
          <a:bodyPr>
            <a:noAutofit/>
          </a:bodyPr>
          <a:lstStyle>
            <a:lvl1pPr marL="0" indent="0" algn="l">
              <a:buNone/>
              <a:defRPr sz="4400" b="1">
                <a:solidFill>
                  <a:schemeClr val="bg1"/>
                </a:solidFill>
                <a:latin typeface="DM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8370672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4D31E-D59D-E6B3-541A-C5068CC4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Data Structures and Algorithms, Week 3 </a:t>
            </a:r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FFBEC-147F-7540-A974-B68CBC0D7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5850013-0FED-DB4F-A95E-FFF4A5127B9C}" type="slidenum">
              <a:rPr lang="en-IE" smtClean="0"/>
              <a:pPr/>
              <a:t>‹#›</a:t>
            </a:fld>
            <a:endParaRPr lang="en-IE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B7F97B-2ADA-0420-312C-421B2ABEBAA9}"/>
              </a:ext>
            </a:extLst>
          </p:cNvPr>
          <p:cNvCxnSpPr>
            <a:cxnSpLocks/>
          </p:cNvCxnSpPr>
          <p:nvPr userDrawn="1"/>
        </p:nvCxnSpPr>
        <p:spPr>
          <a:xfrm>
            <a:off x="11352674" y="6135438"/>
            <a:ext cx="0" cy="180000"/>
          </a:xfrm>
          <a:prstGeom prst="line">
            <a:avLst/>
          </a:prstGeom>
          <a:ln w="28575">
            <a:solidFill>
              <a:srgbClr val="2AC5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itle 2">
            <a:extLst>
              <a:ext uri="{FF2B5EF4-FFF2-40B4-BE49-F238E27FC236}">
                <a16:creationId xmlns:a16="http://schemas.microsoft.com/office/drawing/2014/main" id="{EBCE07BB-A77C-E6C1-170F-F31B22AD8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28000" y="720000"/>
            <a:ext cx="5328000" cy="3348000"/>
          </a:xfrm>
        </p:spPr>
        <p:txBody>
          <a:bodyPr>
            <a:noAutofit/>
          </a:bodyPr>
          <a:lstStyle>
            <a:lvl1pPr marL="0" indent="0" algn="l">
              <a:buNone/>
              <a:defRPr sz="4400" b="1">
                <a:solidFill>
                  <a:schemeClr val="bg1"/>
                </a:solidFill>
                <a:latin typeface="DM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2432282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4D31E-D59D-E6B3-541A-C5068CC4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Data Structures and Algorithms, Week 3 </a:t>
            </a:r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FFBEC-147F-7540-A974-B68CBC0D7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5850013-0FED-DB4F-A95E-FFF4A5127B9C}" type="slidenum">
              <a:rPr lang="en-IE" smtClean="0"/>
              <a:pPr/>
              <a:t>‹#›</a:t>
            </a:fld>
            <a:endParaRPr lang="en-IE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B7F97B-2ADA-0420-312C-421B2ABEBAA9}"/>
              </a:ext>
            </a:extLst>
          </p:cNvPr>
          <p:cNvCxnSpPr>
            <a:cxnSpLocks/>
          </p:cNvCxnSpPr>
          <p:nvPr userDrawn="1"/>
        </p:nvCxnSpPr>
        <p:spPr>
          <a:xfrm>
            <a:off x="11352674" y="6135438"/>
            <a:ext cx="0" cy="180000"/>
          </a:xfrm>
          <a:prstGeom prst="line">
            <a:avLst/>
          </a:prstGeom>
          <a:ln w="28575">
            <a:solidFill>
              <a:srgbClr val="2AC5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itle 2">
            <a:extLst>
              <a:ext uri="{FF2B5EF4-FFF2-40B4-BE49-F238E27FC236}">
                <a16:creationId xmlns:a16="http://schemas.microsoft.com/office/drawing/2014/main" id="{EBCE07BB-A77C-E6C1-170F-F31B22AD8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28000" y="720000"/>
            <a:ext cx="5328000" cy="3348000"/>
          </a:xfrm>
        </p:spPr>
        <p:txBody>
          <a:bodyPr>
            <a:noAutofit/>
          </a:bodyPr>
          <a:lstStyle>
            <a:lvl1pPr marL="0" indent="0" algn="l">
              <a:buNone/>
              <a:defRPr sz="4400" b="1">
                <a:solidFill>
                  <a:schemeClr val="bg1"/>
                </a:solidFill>
                <a:latin typeface="DM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8709220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4AAEB-1F04-C6C3-D097-5035F4463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20000"/>
            <a:ext cx="3248229" cy="3348000"/>
          </a:xfrm>
        </p:spPr>
        <p:txBody>
          <a:bodyPr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A2248C-0CB2-C53C-7A89-AB886BB62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Data Structures and Algorithms, Week 3 </a:t>
            </a:r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475853-1759-118B-503B-CC1045EB5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5850013-0FED-DB4F-A95E-FFF4A5127B9C}" type="slidenum">
              <a:rPr lang="en-IE" smtClean="0"/>
              <a:pPr/>
              <a:t>‹#›</a:t>
            </a:fld>
            <a:endParaRPr lang="en-IE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5EC2DDB-9DB4-9001-A328-07219DC6A27A}"/>
              </a:ext>
            </a:extLst>
          </p:cNvPr>
          <p:cNvCxnSpPr>
            <a:cxnSpLocks/>
          </p:cNvCxnSpPr>
          <p:nvPr userDrawn="1"/>
        </p:nvCxnSpPr>
        <p:spPr>
          <a:xfrm>
            <a:off x="11352674" y="6135438"/>
            <a:ext cx="0" cy="180000"/>
          </a:xfrm>
          <a:prstGeom prst="line">
            <a:avLst/>
          </a:prstGeom>
          <a:ln w="28575">
            <a:solidFill>
              <a:srgbClr val="2AC5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08555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4D31E-D59D-E6B3-541A-C5068CC4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35465"/>
                </a:solidFill>
              </a:defRPr>
            </a:lvl1pPr>
          </a:lstStyle>
          <a:p>
            <a:r>
              <a:rPr lang="en-US"/>
              <a:t>Data Structures and Algorithms, Week 3 </a:t>
            </a:r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FFBEC-147F-7540-A974-B68CBC0D7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35465"/>
                </a:solidFill>
              </a:defRPr>
            </a:lvl1pPr>
          </a:lstStyle>
          <a:p>
            <a:fld id="{95850013-0FED-DB4F-A95E-FFF4A5127B9C}" type="slidenum">
              <a:rPr lang="en-IE" smtClean="0"/>
              <a:pPr/>
              <a:t>‹#›</a:t>
            </a:fld>
            <a:endParaRPr lang="en-IE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B7F97B-2ADA-0420-312C-421B2ABEBAA9}"/>
              </a:ext>
            </a:extLst>
          </p:cNvPr>
          <p:cNvCxnSpPr>
            <a:cxnSpLocks/>
          </p:cNvCxnSpPr>
          <p:nvPr userDrawn="1"/>
        </p:nvCxnSpPr>
        <p:spPr>
          <a:xfrm>
            <a:off x="11352674" y="6135438"/>
            <a:ext cx="0" cy="180000"/>
          </a:xfrm>
          <a:prstGeom prst="line">
            <a:avLst/>
          </a:prstGeom>
          <a:ln w="28575">
            <a:solidFill>
              <a:srgbClr val="2AC5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B545C8AD-259F-BA8D-C0DE-AE5048E26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20000"/>
            <a:ext cx="3248229" cy="3348000"/>
          </a:xfrm>
        </p:spPr>
        <p:txBody>
          <a:bodyPr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1133649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01E26-6996-89FF-60AB-7C4DC388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2001" y="720000"/>
            <a:ext cx="3213500" cy="1600200"/>
          </a:xfrm>
        </p:spPr>
        <p:txBody>
          <a:bodyPr anchor="t">
            <a:normAutofit/>
          </a:bodyPr>
          <a:lstStyle>
            <a:lvl1pPr>
              <a:defRPr sz="21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I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C49609-D089-C079-F4B5-57924D0807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22001" y="2320200"/>
            <a:ext cx="3213500" cy="2217601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78865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CA9681-BE8D-F619-D023-E77CB9F13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Algorithms, Week 3 </a:t>
            </a:r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3CB05-A16F-35DA-765C-EBF5216FD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‹#›</a:t>
            </a:fld>
            <a:endParaRPr lang="en-IE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F16FAD2-001C-07FB-417E-94C3DC37AA5C}"/>
              </a:ext>
            </a:extLst>
          </p:cNvPr>
          <p:cNvCxnSpPr>
            <a:cxnSpLocks/>
          </p:cNvCxnSpPr>
          <p:nvPr userDrawn="1"/>
        </p:nvCxnSpPr>
        <p:spPr>
          <a:xfrm>
            <a:off x="11352674" y="6135438"/>
            <a:ext cx="0" cy="180000"/>
          </a:xfrm>
          <a:prstGeom prst="line">
            <a:avLst/>
          </a:prstGeom>
          <a:ln w="28575">
            <a:solidFill>
              <a:srgbClr val="2AC5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91702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4609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37897662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 w="12700">
            <a:solidFill>
              <a:srgbClr val="F6F9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19672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Structures &amp; Algorithms for Game Development  |  Week 03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0625328" y="651967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Muhammad Umair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3192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SA_MAST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0160">
            <a:solidFill>
              <a:srgbClr val="D4DB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65392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Structures &amp; Algorithms for Game Development  |  Week 03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9692640" y="65653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Muhammad Umair</a:t>
            </a:r>
            <a:endParaRPr lang="en-US" sz="680" dirty="0"/>
          </a:p>
        </p:txBody>
      </p:sp>
    </p:spTree>
    <p:extLst>
      <p:ext uri="{BB962C8B-B14F-4D97-AF65-F5344CB8AC3E}">
        <p14:creationId xmlns:p14="http://schemas.microsoft.com/office/powerpoint/2010/main" val="601507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5E687A-4D6B-8296-F847-C44453722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719999"/>
            <a:ext cx="3348000" cy="3348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Master title style</a:t>
            </a:r>
            <a:endParaRPr lang="en-I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4A6E7-BBAA-FDE9-8605-4FCACA0D3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12000" y="720000"/>
            <a:ext cx="5652000" cy="48821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I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21B2E-3CD1-2CFE-F6F5-3AB8B3D8EE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5802" y="6135438"/>
            <a:ext cx="1387997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rgbClr val="435465"/>
                </a:solidFill>
                <a:latin typeface="DM Sans" pitchFamily="2" charset="77"/>
              </a:defRPr>
            </a:lvl1pPr>
          </a:lstStyle>
          <a:p>
            <a:r>
              <a:rPr lang="en-US"/>
              <a:t>Data Structures and Algorithms, Week 3 </a:t>
            </a:r>
            <a:endParaRPr lang="en-I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3B787-9E01-7A5B-ABFB-82364CA381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1550" y="6138000"/>
            <a:ext cx="456449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435465"/>
                </a:solidFill>
                <a:latin typeface="DM Sans" pitchFamily="2" charset="77"/>
              </a:defRPr>
            </a:lvl1pPr>
          </a:lstStyle>
          <a:p>
            <a:fld id="{95850013-0FED-DB4F-A95E-FFF4A5127B9C}" type="slidenum">
              <a:rPr lang="en-IE" smtClean="0"/>
              <a:pPr/>
              <a:t>‹#›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014174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8" r:id="rId3"/>
    <p:sldLayoutId id="2147483659" r:id="rId4"/>
    <p:sldLayoutId id="2147483654" r:id="rId5"/>
    <p:sldLayoutId id="2147483660" r:id="rId6"/>
    <p:sldLayoutId id="2147483661" r:id="rId7"/>
    <p:sldLayoutId id="2147483650" r:id="rId8"/>
    <p:sldLayoutId id="2147483652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57" r:id="rId17"/>
    <p:sldLayoutId id="2147483655" r:id="rId18"/>
    <p:sldLayoutId id="2147483669" r:id="rId19"/>
    <p:sldLayoutId id="2147483670" r:id="rId20"/>
    <p:sldLayoutId id="2147483671" r:id="rId21"/>
    <p:sldLayoutId id="2147483672" r:id="rId2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435465"/>
          </a:solidFill>
          <a:latin typeface="DM Sans" pitchFamily="2" charset="77"/>
          <a:ea typeface="+mj-ea"/>
          <a:cs typeface="+mj-cs"/>
        </a:defRPr>
      </a:lvl1pPr>
    </p:titleStyle>
    <p:bodyStyle>
      <a:lvl1pPr marL="541338" indent="-530225" algn="l" defTabSz="914400" rtl="0" eaLnBrk="1" latinLnBrk="0" hangingPunct="1">
        <a:lnSpc>
          <a:spcPct val="90000"/>
        </a:lnSpc>
        <a:spcBef>
          <a:spcPts val="1000"/>
        </a:spcBef>
        <a:buClr>
          <a:srgbClr val="4EB47D"/>
        </a:buClr>
        <a:buFont typeface=".PingFang SC Regular"/>
        <a:buChar char="－"/>
        <a:tabLst/>
        <a:defRPr sz="2500" kern="1200">
          <a:solidFill>
            <a:srgbClr val="435465"/>
          </a:solidFill>
          <a:latin typeface="Inter Medium" panose="02000603000000020004" pitchFamily="2" charset="0"/>
          <a:ea typeface="Inter Medium" panose="02000603000000020004" pitchFamily="2" charset="0"/>
          <a:cs typeface="+mn-cs"/>
        </a:defRPr>
      </a:lvl1pPr>
      <a:lvl2pPr marL="541338" indent="-530225" algn="l" defTabSz="914400" rtl="0" eaLnBrk="1" latinLnBrk="0" hangingPunct="1">
        <a:lnSpc>
          <a:spcPct val="90000"/>
        </a:lnSpc>
        <a:spcBef>
          <a:spcPts val="500"/>
        </a:spcBef>
        <a:buClr>
          <a:srgbClr val="4EB47D"/>
        </a:buClr>
        <a:buFont typeface=".PingFang SC Regular"/>
        <a:buChar char="－"/>
        <a:tabLst/>
        <a:defRPr sz="2500" kern="1200">
          <a:solidFill>
            <a:srgbClr val="435465"/>
          </a:solidFill>
          <a:latin typeface="Inter Medium" panose="02000603000000020004" pitchFamily="2" charset="0"/>
          <a:ea typeface="Inter Medium" panose="02000603000000020004" pitchFamily="2" charset="0"/>
          <a:cs typeface="+mn-cs"/>
        </a:defRPr>
      </a:lvl2pPr>
      <a:lvl3pPr marL="541338" indent="-530225" algn="l" defTabSz="914400" rtl="0" eaLnBrk="1" latinLnBrk="0" hangingPunct="1">
        <a:lnSpc>
          <a:spcPct val="90000"/>
        </a:lnSpc>
        <a:spcBef>
          <a:spcPts val="500"/>
        </a:spcBef>
        <a:buClr>
          <a:srgbClr val="4EB47D"/>
        </a:buClr>
        <a:buFont typeface=".PingFang SC Regular"/>
        <a:buChar char="－"/>
        <a:tabLst/>
        <a:defRPr sz="2500" kern="1200">
          <a:solidFill>
            <a:srgbClr val="435465"/>
          </a:solidFill>
          <a:latin typeface="Inter Medium" panose="02000603000000020004" pitchFamily="2" charset="0"/>
          <a:ea typeface="Inter Medium" panose="02000603000000020004" pitchFamily="2" charset="0"/>
          <a:cs typeface="+mn-cs"/>
        </a:defRPr>
      </a:lvl3pPr>
      <a:lvl4pPr marL="541338" indent="-530225" algn="l" defTabSz="914400" rtl="0" eaLnBrk="1" latinLnBrk="0" hangingPunct="1">
        <a:lnSpc>
          <a:spcPct val="90000"/>
        </a:lnSpc>
        <a:spcBef>
          <a:spcPts val="500"/>
        </a:spcBef>
        <a:buClr>
          <a:srgbClr val="4EB47D"/>
        </a:buClr>
        <a:buFont typeface=".PingFang SC Regular"/>
        <a:buChar char="－"/>
        <a:tabLst/>
        <a:defRPr sz="2500" kern="1200">
          <a:solidFill>
            <a:srgbClr val="435465"/>
          </a:solidFill>
          <a:latin typeface="Inter Medium" panose="02000603000000020004" pitchFamily="2" charset="0"/>
          <a:ea typeface="Inter Medium" panose="02000603000000020004" pitchFamily="2" charset="0"/>
          <a:cs typeface="+mn-cs"/>
        </a:defRPr>
      </a:lvl4pPr>
      <a:lvl5pPr marL="541338" indent="-530225" algn="l" defTabSz="914400" rtl="0" eaLnBrk="1" latinLnBrk="0" hangingPunct="1">
        <a:lnSpc>
          <a:spcPct val="90000"/>
        </a:lnSpc>
        <a:spcBef>
          <a:spcPts val="500"/>
        </a:spcBef>
        <a:buClr>
          <a:srgbClr val="4EB47D"/>
        </a:buClr>
        <a:buFont typeface=".PingFang SC Regular"/>
        <a:buChar char="－"/>
        <a:tabLst/>
        <a:defRPr sz="2500" kern="1200">
          <a:solidFill>
            <a:srgbClr val="435465"/>
          </a:solidFill>
          <a:latin typeface="Inter Medium" panose="02000603000000020004" pitchFamily="2" charset="0"/>
          <a:ea typeface="Inter Medium" panose="02000603000000020004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031ABB1-65F4-FCE0-5AB9-CE28C4820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Algorithms, Week 3 </a:t>
            </a:r>
            <a:endParaRPr lang="en-I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36FF44-5961-8806-01E3-C48379BD0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1</a:t>
            </a:fld>
            <a:endParaRPr lang="en-I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5FFD77-6839-E3BD-71C8-6A2F9D12B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252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32FF9-EAB8-F7CB-1A2E-BEA51CDC4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FF468-EB9C-0B0E-8392-558134A57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01E62-AAF6-3E60-6574-DFF639315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840" y="321629"/>
            <a:ext cx="7312140" cy="3792768"/>
          </a:xfrm>
        </p:spPr>
        <p:txBody>
          <a:bodyPr>
            <a:normAutofit lnSpcReduction="10000"/>
          </a:bodyPr>
          <a:lstStyle/>
          <a:p>
            <a:r>
              <a:rPr lang="en-US" sz="1800" b="1" dirty="0"/>
              <a:t>1. Vector Fundamentals</a:t>
            </a:r>
            <a:br>
              <a:rPr lang="en-US" sz="1800" dirty="0"/>
            </a:br>
            <a:r>
              <a:rPr lang="en-US" sz="1800" dirty="0"/>
              <a:t>Operations, element access and modification</a:t>
            </a:r>
          </a:p>
          <a:p>
            <a:r>
              <a:rPr lang="en-US" sz="1800" b="1" dirty="0"/>
              <a:t>2. Size &amp; Memory</a:t>
            </a:r>
            <a:br>
              <a:rPr lang="en-US" sz="1800" dirty="0"/>
            </a:br>
            <a:r>
              <a:rPr lang="en-US" sz="1800" dirty="0"/>
              <a:t>size(), capacity(), reserve() and resize()</a:t>
            </a:r>
          </a:p>
          <a:p>
            <a:r>
              <a:rPr lang="en-US" sz="1800" b="1" dirty="0"/>
              <a:t>3. Iterators</a:t>
            </a:r>
            <a:br>
              <a:rPr lang="en-US" sz="1800" dirty="0"/>
            </a:br>
            <a:r>
              <a:rPr lang="en-US" sz="1800" dirty="0"/>
              <a:t>Traversing vectors and iterator invalidation</a:t>
            </a:r>
          </a:p>
          <a:p>
            <a:r>
              <a:rPr lang="en-US" sz="1800" b="1" dirty="0"/>
              <a:t>4. Searching with Conditions</a:t>
            </a:r>
            <a:br>
              <a:rPr lang="en-US" sz="1800" dirty="0"/>
            </a:br>
            <a:r>
              <a:rPr lang="en-US" sz="1800" dirty="0" err="1"/>
              <a:t>find_if</a:t>
            </a:r>
            <a:r>
              <a:rPr lang="en-US" sz="1800" dirty="0"/>
              <a:t>(), predicates and lambdas</a:t>
            </a:r>
          </a:p>
          <a:p>
            <a:r>
              <a:rPr lang="en-US" sz="1800" b="1" dirty="0"/>
              <a:t>5. Removing Elements</a:t>
            </a:r>
            <a:br>
              <a:rPr lang="en-US" sz="1800" dirty="0"/>
            </a:br>
            <a:r>
              <a:rPr lang="en-US" sz="1800" dirty="0" err="1"/>
              <a:t>remove_if</a:t>
            </a:r>
            <a:r>
              <a:rPr lang="en-US" sz="1800" dirty="0"/>
              <a:t>() and the erase–remove idiom</a:t>
            </a:r>
          </a:p>
          <a:p>
            <a:r>
              <a:rPr lang="en-US" sz="1800" b="1" dirty="0"/>
              <a:t>6. Game Development Application</a:t>
            </a:r>
            <a:br>
              <a:rPr lang="en-US" sz="1800" dirty="0"/>
            </a:br>
            <a:r>
              <a:rPr lang="en-US" sz="1800" dirty="0"/>
              <a:t>Managing players, enemies and game objects using STL</a:t>
            </a:r>
          </a:p>
          <a:p>
            <a:r>
              <a:rPr lang="en-US" sz="1800" b="1" dirty="0"/>
              <a:t>Vector → Iterator → Lambda → Algorithm → Better Game Code</a:t>
            </a:r>
            <a:endParaRPr lang="en-US" sz="1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CF061D-2A66-A942-44A0-CF5993287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32320" y="6135438"/>
            <a:ext cx="4221479" cy="182562"/>
          </a:xfrm>
        </p:spPr>
        <p:txBody>
          <a:bodyPr/>
          <a:lstStyle/>
          <a:p>
            <a:r>
              <a:rPr lang="en-US" dirty="0"/>
              <a:t>Data Structures and Algorithms, Week 3 </a:t>
            </a: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C7A1F4-69E3-C820-D0E8-283228104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2</a:t>
            </a:fld>
            <a:endParaRPr lang="en-IE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102A2CF5-5FBC-4D05-BAFC-481903C01E4F}"/>
              </a:ext>
            </a:extLst>
          </p:cNvPr>
          <p:cNvSpPr/>
          <p:nvPr/>
        </p:nvSpPr>
        <p:spPr>
          <a:xfrm>
            <a:off x="1235280" y="4652010"/>
            <a:ext cx="1736520" cy="394447"/>
          </a:xfrm>
          <a:prstGeom prst="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172A"/>
                </a:solidFill>
              </a:rPr>
              <a:t>Store</a:t>
            </a:r>
            <a:endParaRPr lang="en-US" sz="19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B251A6A6-2F2A-A0CE-DFC9-DED705284B15}"/>
              </a:ext>
            </a:extLst>
          </p:cNvPr>
          <p:cNvSpPr/>
          <p:nvPr/>
        </p:nvSpPr>
        <p:spPr>
          <a:xfrm>
            <a:off x="1235280" y="5218938"/>
            <a:ext cx="1736520" cy="80467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475569"/>
                </a:solidFill>
              </a:rPr>
              <a:t>push_back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475569"/>
                </a:solidFill>
              </a:rPr>
              <a:t>insert</a:t>
            </a:r>
            <a:endParaRPr lang="en-US" sz="1500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A796C31A-0C43-43EC-6CA5-48B74D36B480}"/>
              </a:ext>
            </a:extLst>
          </p:cNvPr>
          <p:cNvSpPr/>
          <p:nvPr/>
        </p:nvSpPr>
        <p:spPr>
          <a:xfrm>
            <a:off x="3173808" y="5401818"/>
            <a:ext cx="112874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7413E99B-4109-8CC0-852F-FAD4E3309A33}"/>
              </a:ext>
            </a:extLst>
          </p:cNvPr>
          <p:cNvSpPr/>
          <p:nvPr/>
        </p:nvSpPr>
        <p:spPr>
          <a:xfrm>
            <a:off x="3429840" y="4652010"/>
            <a:ext cx="1736520" cy="394447"/>
          </a:xfrm>
          <a:prstGeom prst="rect">
            <a:avLst/>
          </a:prstGeom>
          <a:solidFill>
            <a:srgbClr val="ECFEFF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172A"/>
                </a:solidFill>
              </a:rPr>
              <a:t>Access</a:t>
            </a:r>
            <a:endParaRPr lang="en-US" sz="19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B3485B98-CA77-B7B3-8429-FC6949AEF7D5}"/>
              </a:ext>
            </a:extLst>
          </p:cNvPr>
          <p:cNvSpPr/>
          <p:nvPr/>
        </p:nvSpPr>
        <p:spPr>
          <a:xfrm>
            <a:off x="3429840" y="5218938"/>
            <a:ext cx="1736520" cy="80467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475569"/>
                </a:solidFill>
              </a:rPr>
              <a:t>[] / at()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475569"/>
                </a:solidFill>
              </a:rPr>
              <a:t>front / back</a:t>
            </a:r>
            <a:endParaRPr lang="en-US" sz="1500" dirty="0"/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97E049A4-2748-42A6-2777-6B951B9AF335}"/>
              </a:ext>
            </a:extLst>
          </p:cNvPr>
          <p:cNvSpPr/>
          <p:nvPr/>
        </p:nvSpPr>
        <p:spPr>
          <a:xfrm>
            <a:off x="5368368" y="5401818"/>
            <a:ext cx="112874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B616CAD1-9275-3295-DBAF-42238AE7F57F}"/>
              </a:ext>
            </a:extLst>
          </p:cNvPr>
          <p:cNvSpPr/>
          <p:nvPr/>
        </p:nvSpPr>
        <p:spPr>
          <a:xfrm>
            <a:off x="5624400" y="4652010"/>
            <a:ext cx="1736520" cy="394447"/>
          </a:xfrm>
          <a:prstGeom prst="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172A"/>
                </a:solidFill>
              </a:rPr>
              <a:t>Grow</a:t>
            </a:r>
            <a:endParaRPr lang="en-US" sz="1900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6D4C663C-3EA6-088F-545D-729B67EF68B5}"/>
              </a:ext>
            </a:extLst>
          </p:cNvPr>
          <p:cNvSpPr/>
          <p:nvPr/>
        </p:nvSpPr>
        <p:spPr>
          <a:xfrm>
            <a:off x="5624400" y="5218938"/>
            <a:ext cx="1736520" cy="80467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475569"/>
                </a:solidFill>
              </a:rPr>
              <a:t>size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475569"/>
                </a:solidFill>
              </a:rPr>
              <a:t>capacity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475569"/>
                </a:solidFill>
              </a:rPr>
              <a:t>reserve</a:t>
            </a:r>
            <a:endParaRPr lang="en-US" sz="1500" dirty="0"/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BEC080BF-7F6A-6A5E-F249-6B64A1D71837}"/>
              </a:ext>
            </a:extLst>
          </p:cNvPr>
          <p:cNvSpPr/>
          <p:nvPr/>
        </p:nvSpPr>
        <p:spPr>
          <a:xfrm>
            <a:off x="7562928" y="5401818"/>
            <a:ext cx="112874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C5A990AD-1340-AC82-BC86-31C317B7EA4C}"/>
              </a:ext>
            </a:extLst>
          </p:cNvPr>
          <p:cNvSpPr/>
          <p:nvPr/>
        </p:nvSpPr>
        <p:spPr>
          <a:xfrm>
            <a:off x="7818960" y="4652010"/>
            <a:ext cx="1736520" cy="394447"/>
          </a:xfrm>
          <a:prstGeom prst="rect">
            <a:avLst/>
          </a:prstGeom>
          <a:solidFill>
            <a:srgbClr val="ECFEFF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172A"/>
                </a:solidFill>
              </a:rPr>
              <a:t>Search</a:t>
            </a:r>
            <a:endParaRPr lang="en-US" sz="1900" dirty="0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AB20ABE3-0A46-A3E4-CA13-15B8BA0FEC3F}"/>
              </a:ext>
            </a:extLst>
          </p:cNvPr>
          <p:cNvSpPr/>
          <p:nvPr/>
        </p:nvSpPr>
        <p:spPr>
          <a:xfrm>
            <a:off x="7818960" y="5218938"/>
            <a:ext cx="1736520" cy="80467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475569"/>
                </a:solidFill>
              </a:rPr>
              <a:t>find_if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475569"/>
                </a:solidFill>
              </a:rPr>
              <a:t>lambda</a:t>
            </a:r>
            <a:endParaRPr lang="en-US" sz="1500" dirty="0"/>
          </a:p>
        </p:txBody>
      </p:sp>
      <p:sp>
        <p:nvSpPr>
          <p:cNvPr id="29" name="Shape 14">
            <a:extLst>
              <a:ext uri="{FF2B5EF4-FFF2-40B4-BE49-F238E27FC236}">
                <a16:creationId xmlns:a16="http://schemas.microsoft.com/office/drawing/2014/main" id="{27F6F436-8602-A061-A313-3D6EBD0CA3BF}"/>
              </a:ext>
            </a:extLst>
          </p:cNvPr>
          <p:cNvSpPr/>
          <p:nvPr/>
        </p:nvSpPr>
        <p:spPr>
          <a:xfrm>
            <a:off x="9757488" y="5401818"/>
            <a:ext cx="112874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4AD5C218-0440-C1B2-8EA6-8A27BD15293E}"/>
              </a:ext>
            </a:extLst>
          </p:cNvPr>
          <p:cNvSpPr/>
          <p:nvPr/>
        </p:nvSpPr>
        <p:spPr>
          <a:xfrm>
            <a:off x="10013520" y="4652010"/>
            <a:ext cx="1736520" cy="394447"/>
          </a:xfrm>
          <a:prstGeom prst="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172A"/>
                </a:solidFill>
              </a:rPr>
              <a:t>Remove</a:t>
            </a:r>
            <a:endParaRPr lang="en-US" sz="1900" dirty="0"/>
          </a:p>
        </p:txBody>
      </p:sp>
      <p:sp>
        <p:nvSpPr>
          <p:cNvPr id="33" name="Text 16">
            <a:extLst>
              <a:ext uri="{FF2B5EF4-FFF2-40B4-BE49-F238E27FC236}">
                <a16:creationId xmlns:a16="http://schemas.microsoft.com/office/drawing/2014/main" id="{A30D3079-29CE-7B2E-4BC3-DF2F7E480E8E}"/>
              </a:ext>
            </a:extLst>
          </p:cNvPr>
          <p:cNvSpPr/>
          <p:nvPr/>
        </p:nvSpPr>
        <p:spPr>
          <a:xfrm>
            <a:off x="10013520" y="5218938"/>
            <a:ext cx="1736520" cy="80467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475569"/>
                </a:solidFill>
              </a:rPr>
              <a:t>remove_if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475569"/>
                </a:solidFill>
              </a:rPr>
              <a:t>erase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741049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3" grpId="0" animBg="1"/>
      <p:bldP spid="15" grpId="0" animBg="1"/>
      <p:bldP spid="19" grpId="0" animBg="1"/>
      <p:bldP spid="21" grpId="0" animBg="1"/>
      <p:bldP spid="25" grpId="0" animBg="1"/>
      <p:bldP spid="27" grpId="0" animBg="1"/>
      <p:bldP spid="31" grpId="0" animBg="1"/>
      <p:bldP spid="3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246888"/>
            <a:ext cx="576072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Vector Fundamentals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51206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Operations, element access and modification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051560"/>
            <a:ext cx="11018520" cy="658368"/>
          </a:xfrm>
          <a:prstGeom prst="roundRect">
            <a:avLst>
              <a:gd name="adj" fmla="val 20833"/>
            </a:avLst>
          </a:prstGeom>
          <a:solidFill>
            <a:srgbClr val="EAF2FF"/>
          </a:solidFill>
          <a:ln w="12700">
            <a:solidFill>
              <a:srgbClr val="BFD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120140"/>
            <a:ext cx="778154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1E3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std::vector stores elements in sequence and can grow or shrink dynamically while the program is running.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41080" y="1246968"/>
            <a:ext cx="28346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 algn="r"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of it as an expandable row of game data.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658368" y="1947672"/>
            <a:ext cx="5582412" cy="969264"/>
          </a:xfrm>
          <a:prstGeom prst="roundRect">
            <a:avLst>
              <a:gd name="adj" fmla="val 754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249424"/>
            <a:ext cx="4846320" cy="30175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std::vector&lt;int&gt; scores {50, 20, 80, 30};</a:t>
            </a:r>
            <a:endParaRPr lang="en-US" sz="1380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A5FCA0B-4555-E16B-34AC-6B65BB05F89D}"/>
              </a:ext>
            </a:extLst>
          </p:cNvPr>
          <p:cNvGrpSpPr/>
          <p:nvPr/>
        </p:nvGrpSpPr>
        <p:grpSpPr>
          <a:xfrm>
            <a:off x="768096" y="3163824"/>
            <a:ext cx="4343400" cy="1280160"/>
            <a:chOff x="768096" y="3163824"/>
            <a:chExt cx="4343400" cy="1280160"/>
          </a:xfrm>
        </p:grpSpPr>
        <p:sp>
          <p:nvSpPr>
            <p:cNvPr id="10" name="Text 8"/>
            <p:cNvSpPr/>
            <p:nvPr/>
          </p:nvSpPr>
          <p:spPr>
            <a:xfrm>
              <a:off x="768096" y="3474720"/>
              <a:ext cx="685800" cy="27432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r">
                <a:buNone/>
              </a:pPr>
              <a:r>
                <a:rPr lang="en-US" sz="1300" b="1" dirty="0">
                  <a:solidFill>
                    <a:srgbClr val="334155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scores</a:t>
              </a:r>
              <a:endParaRPr lang="en-US" sz="13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1527048" y="3611880"/>
              <a:ext cx="320040" cy="0"/>
            </a:xfrm>
            <a:prstGeom prst="line">
              <a:avLst/>
            </a:prstGeom>
            <a:noFill/>
            <a:ln w="15240">
              <a:solidFill>
                <a:srgbClr val="94A3B8"/>
              </a:solidFill>
              <a:prstDash val="solid"/>
              <a:headEnd type="none"/>
              <a:tailEnd type="triangle"/>
            </a:ln>
          </p:spPr>
        </p:sp>
        <p:sp>
          <p:nvSpPr>
            <p:cNvPr id="12" name="Shape 10"/>
            <p:cNvSpPr/>
            <p:nvPr/>
          </p:nvSpPr>
          <p:spPr>
            <a:xfrm>
              <a:off x="1965960" y="3163824"/>
              <a:ext cx="786384" cy="71323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563EB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1984248" y="3337560"/>
              <a:ext cx="749808" cy="292608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0F17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50</a:t>
              </a:r>
              <a:endParaRPr lang="en-US" sz="21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1975104" y="3950208"/>
              <a:ext cx="768096" cy="16459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30" dirty="0">
                  <a:solidFill>
                    <a:srgbClr val="64748B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[0]</a:t>
              </a:r>
              <a:endParaRPr lang="en-US" sz="103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2752344" y="3163824"/>
              <a:ext cx="786384" cy="713232"/>
            </a:xfrm>
            <a:prstGeom prst="rect">
              <a:avLst/>
            </a:prstGeom>
            <a:solidFill>
              <a:srgbClr val="FEF3C7"/>
            </a:solidFill>
            <a:ln w="15240">
              <a:solidFill>
                <a:srgbClr val="2563EB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2770632" y="3337560"/>
              <a:ext cx="749808" cy="292608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0F17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20</a:t>
              </a:r>
              <a:endParaRPr lang="en-US" sz="21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2761488" y="3950208"/>
              <a:ext cx="768096" cy="16459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30" dirty="0">
                  <a:solidFill>
                    <a:srgbClr val="64748B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[1]</a:t>
              </a:r>
              <a:endParaRPr lang="en-US" sz="103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3538728" y="3163824"/>
              <a:ext cx="786384" cy="71323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563EB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3557016" y="3337560"/>
              <a:ext cx="749808" cy="292608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0F17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80</a:t>
              </a:r>
              <a:endParaRPr lang="en-US" sz="21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3547872" y="3950208"/>
              <a:ext cx="768096" cy="16459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30" dirty="0">
                  <a:solidFill>
                    <a:srgbClr val="64748B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[2]</a:t>
              </a:r>
              <a:endParaRPr lang="en-US" sz="103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4325112" y="3163824"/>
              <a:ext cx="786384" cy="71323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563EB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4343400" y="3337560"/>
              <a:ext cx="749808" cy="292608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0F17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30</a:t>
              </a:r>
              <a:endParaRPr lang="en-US" sz="21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4334256" y="3950208"/>
              <a:ext cx="768096" cy="16459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30" dirty="0">
                  <a:solidFill>
                    <a:srgbClr val="64748B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[3]</a:t>
              </a:r>
              <a:endParaRPr lang="en-US" sz="103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2377440" y="4251960"/>
              <a:ext cx="2103120" cy="192024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50" i="1" dirty="0">
                  <a:solidFill>
                    <a:srgbClr val="64748B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Index positions</a:t>
              </a:r>
              <a:endParaRPr lang="en-US" sz="1050" dirty="0"/>
            </a:p>
          </p:txBody>
        </p:sp>
      </p:grpSp>
      <p:sp>
        <p:nvSpPr>
          <p:cNvPr id="25" name="Shape 23"/>
          <p:cNvSpPr/>
          <p:nvPr/>
        </p:nvSpPr>
        <p:spPr>
          <a:xfrm>
            <a:off x="8108442" y="1938528"/>
            <a:ext cx="3346704" cy="2514600"/>
          </a:xfrm>
          <a:prstGeom prst="roundRect">
            <a:avLst>
              <a:gd name="adj" fmla="val 5455"/>
            </a:avLst>
          </a:prstGeom>
          <a:solidFill>
            <a:srgbClr val="ECFE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85632" y="2130552"/>
            <a:ext cx="1691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🎮 Game Example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85632" y="2496312"/>
            <a:ext cx="2743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vector can store active enemies, bullets, inventory items or scores.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85632" y="3136392"/>
            <a:ext cx="24688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a new enemy appears: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522208" y="3447288"/>
            <a:ext cx="261518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41080" y="3538728"/>
            <a:ext cx="239572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enemies.push_back(newEnemy);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8485632" y="3995928"/>
            <a:ext cx="26060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vector grows to include it.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694944" y="4663440"/>
            <a:ext cx="3456432" cy="1033272"/>
          </a:xfrm>
          <a:prstGeom prst="roundRect">
            <a:avLst>
              <a:gd name="adj" fmla="val 14159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6112" y="4782312"/>
            <a:ext cx="305409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/ Remove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96112" y="5065776"/>
            <a:ext cx="305409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scores.push_back(90);</a:t>
            </a:r>
            <a:endParaRPr lang="en-US" sz="890" dirty="0"/>
          </a:p>
          <a:p>
            <a:pPr marL="0" indent="0" algn="l">
              <a:buNone/>
            </a:pPr>
            <a:r>
              <a:rPr lang="en-US" sz="89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scores.pop_back();</a:t>
            </a:r>
            <a:endParaRPr lang="en-US" sz="890" dirty="0"/>
          </a:p>
        </p:txBody>
      </p:sp>
      <p:sp>
        <p:nvSpPr>
          <p:cNvPr id="35" name="Text 33"/>
          <p:cNvSpPr/>
          <p:nvPr/>
        </p:nvSpPr>
        <p:spPr>
          <a:xfrm>
            <a:off x="896112" y="5422392"/>
            <a:ext cx="305409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or remove elements from the end of the vector.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4370832" y="4663440"/>
            <a:ext cx="3456432" cy="1033272"/>
          </a:xfrm>
          <a:prstGeom prst="roundRect">
            <a:avLst>
              <a:gd name="adj" fmla="val 14159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4782312"/>
            <a:ext cx="305409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F4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72000" y="5065776"/>
            <a:ext cx="305409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scores[2];   scores.at(2);</a:t>
            </a:r>
            <a:endParaRPr lang="en-US" sz="890" dirty="0"/>
          </a:p>
          <a:p>
            <a:pPr marL="0" indent="0" algn="l">
              <a:buNone/>
            </a:pPr>
            <a:r>
              <a:rPr lang="en-US" sz="89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scores.front(); scores.back();</a:t>
            </a:r>
            <a:endParaRPr lang="en-US" sz="890" dirty="0"/>
          </a:p>
        </p:txBody>
      </p:sp>
      <p:sp>
        <p:nvSpPr>
          <p:cNvPr id="39" name="Text 37"/>
          <p:cNvSpPr/>
          <p:nvPr/>
        </p:nvSpPr>
        <p:spPr>
          <a:xfrm>
            <a:off x="4572000" y="5422392"/>
            <a:ext cx="305409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an index or retrieve the first / last element.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8046720" y="4663440"/>
            <a:ext cx="3456432" cy="1033272"/>
          </a:xfrm>
          <a:prstGeom prst="roundRect">
            <a:avLst>
              <a:gd name="adj" fmla="val 14159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47888" y="4782312"/>
            <a:ext cx="305409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Modify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247888" y="5065776"/>
            <a:ext cx="305409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scores[1] = 25;</a:t>
            </a:r>
            <a:endParaRPr lang="en-US" sz="890" dirty="0"/>
          </a:p>
        </p:txBody>
      </p:sp>
      <p:sp>
        <p:nvSpPr>
          <p:cNvPr id="43" name="Text 41"/>
          <p:cNvSpPr/>
          <p:nvPr/>
        </p:nvSpPr>
        <p:spPr>
          <a:xfrm>
            <a:off x="8247888" y="5422392"/>
            <a:ext cx="305409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the value stored at a selected position.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694944" y="5751576"/>
            <a:ext cx="10899648" cy="320040"/>
          </a:xfrm>
          <a:prstGeom prst="roundRect">
            <a:avLst>
              <a:gd name="adj" fmla="val 2857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8680" y="5824728"/>
            <a:ext cx="1051560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Vector gives indexed access like an array, but it can grow and shrink dynamically.</a:t>
            </a:r>
            <a:endParaRPr lang="en-US" sz="1080" dirty="0"/>
          </a:p>
        </p:txBody>
      </p:sp>
      <p:sp>
        <p:nvSpPr>
          <p:cNvPr id="48" name="Footer Placeholder 47">
            <a:extLst>
              <a:ext uri="{FF2B5EF4-FFF2-40B4-BE49-F238E27FC236}">
                <a16:creationId xmlns:a16="http://schemas.microsoft.com/office/drawing/2014/main" id="{03B37BC6-5473-81A1-ED25-A976D738D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97980" y="6146868"/>
            <a:ext cx="4655819" cy="182562"/>
          </a:xfrm>
        </p:spPr>
        <p:txBody>
          <a:bodyPr/>
          <a:lstStyle/>
          <a:p>
            <a:r>
              <a:rPr lang="en-US" dirty="0"/>
              <a:t>Data Structures and Algorithms, Week 3 </a:t>
            </a:r>
            <a:endParaRPr lang="en-IE" dirty="0"/>
          </a:p>
        </p:txBody>
      </p:sp>
      <p:sp>
        <p:nvSpPr>
          <p:cNvPr id="49" name="Slide Number Placeholder 48">
            <a:extLst>
              <a:ext uri="{FF2B5EF4-FFF2-40B4-BE49-F238E27FC236}">
                <a16:creationId xmlns:a16="http://schemas.microsoft.com/office/drawing/2014/main" id="{066B0421-FCCE-39A1-5BD7-83602A6EF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3</a:t>
            </a:fld>
            <a:endParaRPr lang="en-I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3" grpId="0" animBg="1"/>
      <p:bldP spid="34" grpId="0" animBg="1"/>
      <p:bldP spid="35" grpId="0" animBg="1"/>
      <p:bldP spid="37" grpId="0" animBg="1"/>
      <p:bldP spid="38" grpId="0" animBg="1"/>
      <p:bldP spid="39" grpId="0" animBg="1"/>
      <p:bldP spid="41" grpId="0" animBg="1"/>
      <p:bldP spid="42" grpId="0" animBg="1"/>
      <p:bldP spid="4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std::vector: More Than a Dynamic Array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sequence container where order, position and growth matter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835640" cy="576072"/>
          </a:xfrm>
          <a:prstGeom prst="roundRect">
            <a:avLst>
              <a:gd name="adj" fmla="val 12698"/>
            </a:avLst>
          </a:prstGeom>
          <a:solidFill>
            <a:srgbClr val="EEF6FF"/>
          </a:solidFill>
          <a:ln w="12700">
            <a:solidFill>
              <a:srgbClr val="C7D7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91056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vector is like an expandable row: it keeps elements in order, lets us jump to any index, and grows when new data is added.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685800" y="2240280"/>
            <a:ext cx="7178040" cy="1856232"/>
          </a:xfrm>
          <a:prstGeom prst="roundRect">
            <a:avLst>
              <a:gd name="adj" fmla="val 4926"/>
            </a:avLst>
          </a:prstGeom>
          <a:solidFill>
            <a:srgbClr val="FFFFFF"/>
          </a:solidFill>
          <a:ln w="16510">
            <a:solidFill>
              <a:srgbClr val="C7D7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95728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Vector stores values in a continuous, indexed sequence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86968" y="2971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75569"/>
                </a:solidFill>
              </a:rPr>
              <a:t>scores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62456" y="293522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475569"/>
                </a:solidFill>
              </a:rPr>
              <a:t>→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32688" y="3520440"/>
            <a:ext cx="6217920" cy="32004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3602736"/>
            <a:ext cx="5897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std::vector&lt;int&gt; scores {10, 20, 30, 40, 50};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91640" y="2633472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0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691640" y="2816352"/>
            <a:ext cx="694944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7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296265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10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386584" y="2633472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1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386584" y="2816352"/>
            <a:ext cx="694944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7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86584" y="296265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20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081528" y="2633472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2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081528" y="2816352"/>
            <a:ext cx="694944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7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81528" y="296265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30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776472" y="2633472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3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776472" y="2816352"/>
            <a:ext cx="694944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7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76472" y="296265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40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471416" y="2633472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4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471416" y="2816352"/>
            <a:ext cx="694944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7D7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71416" y="296265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50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60120" y="26334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Index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270602" y="2816352"/>
            <a:ext cx="694944" cy="530352"/>
          </a:xfrm>
          <a:prstGeom prst="rect">
            <a:avLst/>
          </a:prstGeom>
          <a:solidFill>
            <a:srgbClr val="FFF7ED">
              <a:alpha val="90000"/>
            </a:srgbClr>
          </a:solidFill>
          <a:ln w="1778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70602" y="296265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60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5852160" y="3081528"/>
            <a:ext cx="320040" cy="0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6199632" y="2889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F59E0B"/>
                </a:solidFill>
              </a:rPr>
              <a:t>push_back(60)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8183880" y="2240280"/>
            <a:ext cx="3154680" cy="621792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D7E3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48472" y="2359152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①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686800" y="235000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F172A"/>
                </a:solidFill>
              </a:rPr>
              <a:t>Order is preserved</a:t>
            </a:r>
            <a:endParaRPr lang="en-US" sz="1120" dirty="0"/>
          </a:p>
        </p:txBody>
      </p:sp>
      <p:sp>
        <p:nvSpPr>
          <p:cNvPr id="36" name="Text 34"/>
          <p:cNvSpPr/>
          <p:nvPr/>
        </p:nvSpPr>
        <p:spPr>
          <a:xfrm>
            <a:off x="8686800" y="2560320"/>
            <a:ext cx="259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Items stay in the same sequence until we change them.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183880" y="2980944"/>
            <a:ext cx="3154680" cy="621792"/>
          </a:xfrm>
          <a:prstGeom prst="roundRect">
            <a:avLst>
              <a:gd name="adj" fmla="val 11765"/>
            </a:avLst>
          </a:prstGeom>
          <a:solidFill>
            <a:srgbClr val="E9FBFA"/>
          </a:solidFill>
          <a:ln w="12700">
            <a:solidFill>
              <a:srgbClr val="D7E3F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48472" y="3099816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②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686800" y="309067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F172A"/>
                </a:solidFill>
              </a:rPr>
              <a:t>Position gives access</a:t>
            </a:r>
            <a:endParaRPr lang="en-US" sz="1120" dirty="0"/>
          </a:p>
        </p:txBody>
      </p:sp>
      <p:sp>
        <p:nvSpPr>
          <p:cNvPr id="40" name="Text 38"/>
          <p:cNvSpPr/>
          <p:nvPr/>
        </p:nvSpPr>
        <p:spPr>
          <a:xfrm>
            <a:off x="8686800" y="330098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scores[2] jumps directly to the value at index 2.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183880" y="3721608"/>
            <a:ext cx="3154680" cy="621792"/>
          </a:xfrm>
          <a:prstGeom prst="roundRect">
            <a:avLst>
              <a:gd name="adj" fmla="val 11765"/>
            </a:avLst>
          </a:prstGeom>
          <a:solidFill>
            <a:srgbClr val="FFF4CF"/>
          </a:solidFill>
          <a:ln w="12700">
            <a:solidFill>
              <a:srgbClr val="D7E3F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48472" y="384048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③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686800" y="383133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F172A"/>
                </a:solidFill>
              </a:rPr>
              <a:t>Growth is automatic</a:t>
            </a:r>
            <a:endParaRPr lang="en-US" sz="1120" dirty="0"/>
          </a:p>
        </p:txBody>
      </p:sp>
      <p:sp>
        <p:nvSpPr>
          <p:cNvPr id="44" name="Text 42"/>
          <p:cNvSpPr/>
          <p:nvPr/>
        </p:nvSpPr>
        <p:spPr>
          <a:xfrm>
            <a:off x="8686800" y="404164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push_back() can add new elements while the program runs.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85800" y="4480560"/>
            <a:ext cx="10652760" cy="1124712"/>
          </a:xfrm>
          <a:prstGeom prst="roundRect">
            <a:avLst>
              <a:gd name="adj" fmla="val 8130"/>
            </a:avLst>
          </a:prstGeom>
          <a:solidFill>
            <a:srgbClr val="FFFFFF"/>
          </a:solidFill>
          <a:ln w="13970">
            <a:solidFill>
              <a:srgbClr val="C7D7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4400" y="46360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Common operations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914400" y="4956048"/>
            <a:ext cx="2651760" cy="502920"/>
          </a:xfrm>
          <a:prstGeom prst="roundRect">
            <a:avLst>
              <a:gd name="adj" fmla="val 10417"/>
            </a:avLst>
          </a:prstGeom>
          <a:solidFill>
            <a:srgbClr val="ECFDF5"/>
          </a:solidFill>
          <a:ln w="10160">
            <a:solidFill>
              <a:srgbClr val="D7E3F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51560" y="5001768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</a:rPr>
              <a:t>Add / remove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051560" y="5129784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push_back()   pop_back()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51560" y="5276088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change the end of the vector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931920" y="4873751"/>
            <a:ext cx="2743200" cy="585217"/>
          </a:xfrm>
          <a:prstGeom prst="roundRect">
            <a:avLst>
              <a:gd name="adj" fmla="val 10417"/>
            </a:avLst>
          </a:prstGeom>
          <a:solidFill>
            <a:srgbClr val="EAF2FF"/>
          </a:solidFill>
          <a:ln w="10160">
            <a:solidFill>
              <a:srgbClr val="D7E3F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69080" y="4898898"/>
            <a:ext cx="260604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Access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069080" y="5061204"/>
            <a:ext cx="256032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  at()   front()   back()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069080" y="5276088"/>
            <a:ext cx="2331720" cy="162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read values using positions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7132320" y="4873752"/>
            <a:ext cx="4145280" cy="585216"/>
          </a:xfrm>
          <a:prstGeom prst="roundRect">
            <a:avLst>
              <a:gd name="adj" fmla="val 10417"/>
            </a:avLst>
          </a:prstGeom>
          <a:solidFill>
            <a:srgbClr val="E9FBFA"/>
          </a:solidFill>
          <a:ln w="10160">
            <a:solidFill>
              <a:srgbClr val="D7E3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7269480" y="484860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</a:rPr>
              <a:t>Check state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7269480" y="512064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size()   empty()   capacity()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269480" y="5276088"/>
            <a:ext cx="2411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inspect how much data / space exists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85800" y="5682996"/>
            <a:ext cx="10652760" cy="420624"/>
          </a:xfrm>
          <a:prstGeom prst="roundRect">
            <a:avLst>
              <a:gd name="adj" fmla="val 17391"/>
            </a:avLst>
          </a:prstGeom>
          <a:solidFill>
            <a:srgbClr val="F8FAFC"/>
          </a:solidFill>
          <a:ln w="11430">
            <a:solidFill>
              <a:srgbClr val="DDE8F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77824" y="580186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</a:rPr>
              <a:t>🎮 Game example: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2011680" y="5692140"/>
            <a:ext cx="91440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A vector can store active enemies, bullets, inventory items or scores. When something new appears, add it; when it disappears, remove it.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7234301" y="626364"/>
            <a:ext cx="4135537" cy="384048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383780" y="690372"/>
            <a:ext cx="37627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Key idea: array-like access + flexible growth</a:t>
            </a:r>
            <a:endParaRPr lang="en-US" sz="1600" dirty="0"/>
          </a:p>
        </p:txBody>
      </p:sp>
      <p:sp>
        <p:nvSpPr>
          <p:cNvPr id="65" name="Footer Placeholder 64">
            <a:extLst>
              <a:ext uri="{FF2B5EF4-FFF2-40B4-BE49-F238E27FC236}">
                <a16:creationId xmlns:a16="http://schemas.microsoft.com/office/drawing/2014/main" id="{D6008FA4-9DD9-23DC-2783-37F811F87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83780" y="6158298"/>
            <a:ext cx="3970019" cy="182562"/>
          </a:xfrm>
        </p:spPr>
        <p:txBody>
          <a:bodyPr/>
          <a:lstStyle/>
          <a:p>
            <a:r>
              <a:rPr lang="en-US" dirty="0"/>
              <a:t>Data Structures and Algorithms, Week 3 </a:t>
            </a:r>
            <a:endParaRPr lang="en-IE" dirty="0"/>
          </a:p>
        </p:txBody>
      </p:sp>
      <p:sp>
        <p:nvSpPr>
          <p:cNvPr id="66" name="Slide Number Placeholder 65">
            <a:extLst>
              <a:ext uri="{FF2B5EF4-FFF2-40B4-BE49-F238E27FC236}">
                <a16:creationId xmlns:a16="http://schemas.microsoft.com/office/drawing/2014/main" id="{4C508049-D7E1-FE15-72D8-023AE6D92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4</a:t>
            </a:fld>
            <a:endParaRPr lang="en-I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6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1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2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8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1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4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2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0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3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3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6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3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3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2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8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5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5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4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5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5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5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0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6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6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6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6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7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2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7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7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7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8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7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8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27" grpId="0" animBg="1"/>
      <p:bldP spid="28" grpId="0" animBg="1"/>
      <p:bldP spid="30" grpId="0" animBg="1"/>
      <p:bldP spid="32" grpId="0" animBg="1"/>
      <p:bldP spid="34" grpId="0" animBg="1"/>
      <p:bldP spid="35" grpId="0" animBg="1"/>
      <p:bldP spid="36" grpId="0" animBg="1"/>
      <p:bldP spid="38" grpId="0" animBg="1"/>
      <p:bldP spid="39" grpId="0" animBg="1"/>
      <p:bldP spid="40" grpId="0" animBg="1"/>
      <p:bldP spid="42" grpId="0" animBg="1"/>
      <p:bldP spid="43" grpId="0" animBg="1"/>
      <p:bldP spid="44" grpId="0" animBg="1"/>
      <p:bldP spid="46" grpId="0" animBg="1"/>
      <p:bldP spid="48" grpId="0" animBg="1"/>
      <p:bldP spid="49" grpId="0" animBg="1"/>
      <p:bldP spid="50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60" grpId="0" animBg="1"/>
      <p:bldP spid="6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Building a Vector Step by Step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Adding and removing values at the back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77240" y="1353312"/>
            <a:ext cx="4526280" cy="3520440"/>
          </a:xfrm>
          <a:prstGeom prst="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std::vector&lt;int&gt; scores;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scores.push_back(50);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scores.push_back(80);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scores.push_back(40);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scores.pop_back();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46520" y="10424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Visual trace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46520" y="1453896"/>
            <a:ext cx="1030224" cy="32004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5569"/>
                </a:solidFill>
              </a:rPr>
              <a:t>Start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09560" y="1362456"/>
            <a:ext cx="594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 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2276856"/>
            <a:ext cx="1426464" cy="320040"/>
          </a:xfrm>
          <a:prstGeom prst="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</a:rPr>
              <a:t>push_back(50)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0" y="2185416"/>
            <a:ext cx="594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50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46520" y="3099816"/>
            <a:ext cx="1426464" cy="320040"/>
          </a:xfrm>
          <a:prstGeom prst="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</a:rPr>
              <a:t>push_back(80)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0" y="3008376"/>
            <a:ext cx="594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50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098280" y="3008376"/>
            <a:ext cx="594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80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46520" y="3922776"/>
            <a:ext cx="1426464" cy="320040"/>
          </a:xfrm>
          <a:prstGeom prst="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</a:rPr>
              <a:t>push_back(40)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0" y="3831336"/>
            <a:ext cx="594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50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098280" y="3831336"/>
            <a:ext cx="594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80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784080" y="3831336"/>
            <a:ext cx="594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40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46520" y="4745736"/>
            <a:ext cx="1426464" cy="320040"/>
          </a:xfrm>
          <a:prstGeom prst="rect">
            <a:avLst/>
          </a:prstGeom>
          <a:solidFill>
            <a:srgbClr val="FEF3C7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pop_back()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0" y="4654296"/>
            <a:ext cx="594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50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098280" y="4654296"/>
            <a:ext cx="594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80</a:t>
            </a:r>
            <a:endParaRPr lang="en-US" sz="1700" dirty="0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33B0FE6A-E5DC-388E-3380-6C7E1FF1F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38060" y="6135438"/>
            <a:ext cx="4015739" cy="201354"/>
          </a:xfrm>
        </p:spPr>
        <p:txBody>
          <a:bodyPr/>
          <a:lstStyle/>
          <a:p>
            <a:r>
              <a:rPr lang="en-US" dirty="0"/>
              <a:t>Data Structures and Algorithms, Week 3 </a:t>
            </a:r>
            <a:endParaRPr lang="en-IE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B92C6492-EB70-BAB1-317B-5D44C9E76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5</a:t>
            </a:fld>
            <a:endParaRPr lang="en-I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31F39"/>
                </a:solidFill>
              </a:rPr>
              <a:t>Accessing Elements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4637D"/>
                </a:solidFill>
              </a:rPr>
              <a:t>Different ways to read values from a vector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868680"/>
            <a:ext cx="1097280" cy="347472"/>
          </a:xfrm>
          <a:prstGeom prst="roundRect">
            <a:avLst/>
          </a:prstGeom>
          <a:solidFill>
            <a:srgbClr val="E6EEFC"/>
          </a:solidFill>
          <a:ln>
            <a:solidFill>
              <a:srgbClr val="31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3166DD"/>
                </a:solidFill>
              </a:rPr>
              <a:t>Build 1/</a:t>
            </a:r>
            <a:r>
              <a:rPr lang="en-US" sz="1200" b="1" dirty="0">
                <a:solidFill>
                  <a:srgbClr val="3166DD"/>
                </a:solidFill>
              </a:rPr>
              <a:t>2</a:t>
            </a:r>
            <a:endParaRPr sz="1200" b="1" dirty="0">
              <a:solidFill>
                <a:srgbClr val="3166DD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4637D"/>
                </a:solidFill>
              </a:rPr>
              <a:t>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4637D"/>
                </a:solidFill>
              </a:rPr>
              <a:t>scores 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1737360"/>
            <a:ext cx="914400" cy="658368"/>
          </a:xfrm>
          <a:prstGeom prst="rect">
            <a:avLst/>
          </a:prstGeom>
          <a:solidFill>
            <a:srgbClr val="E6EEFC"/>
          </a:solidFill>
          <a:ln>
            <a:solidFill>
              <a:srgbClr val="BFC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31F39"/>
                </a:solidFill>
              </a:rPr>
              <a:t>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57984" y="244144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995AB"/>
                </a:solidFill>
              </a:rPr>
              <a:t>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737360"/>
            <a:ext cx="9144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BFC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31F39"/>
                </a:solidFill>
              </a:rPr>
              <a:t>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2384" y="244144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995AB"/>
                </a:solidFill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1737360"/>
            <a:ext cx="9144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BFC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31F39"/>
                </a:solidFill>
              </a:rPr>
              <a:t>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86784" y="244144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995AB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737360"/>
            <a:ext cx="914400" cy="658368"/>
          </a:xfrm>
          <a:prstGeom prst="rect">
            <a:avLst/>
          </a:prstGeom>
          <a:solidFill>
            <a:srgbClr val="FFF3E0"/>
          </a:solidFill>
          <a:ln>
            <a:solidFill>
              <a:srgbClr val="BFC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31F39"/>
                </a:solidFill>
              </a:rPr>
              <a:t>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1184" y="244144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995AB"/>
                </a:solidFill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1645920"/>
            <a:ext cx="2331720" cy="914400"/>
          </a:xfrm>
          <a:prstGeom prst="roundRect">
            <a:avLst/>
          </a:prstGeom>
          <a:solidFill>
            <a:srgbClr val="E6EEFC"/>
          </a:solidFill>
          <a:ln>
            <a:solidFill>
              <a:srgbClr val="31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600" b="1" dirty="0">
                <a:solidFill>
                  <a:srgbClr val="3166DD"/>
                </a:solidFill>
              </a:rPr>
              <a:t>First element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500" b="1" dirty="0">
                <a:solidFill>
                  <a:srgbClr val="131F39"/>
                </a:solidFill>
                <a:latin typeface="Courier New"/>
              </a:rPr>
              <a:t>scores[0]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54637D"/>
                </a:solidFill>
              </a:rPr>
              <a:t>Reads the element stored at index 0.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645920"/>
            <a:ext cx="2331720" cy="914400"/>
          </a:xfrm>
          <a:prstGeom prst="roundRect">
            <a:avLst/>
          </a:prstGeom>
          <a:solidFill>
            <a:srgbClr val="FFF3E0"/>
          </a:solidFill>
          <a:ln>
            <a:solidFill>
              <a:srgbClr val="F49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4931C"/>
                </a:solidFill>
              </a:rPr>
              <a:t>Last element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500" b="1">
                <a:solidFill>
                  <a:srgbClr val="131F39"/>
                </a:solidFill>
                <a:latin typeface="Courier New"/>
              </a:rPr>
              <a:t>scores[3]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54637D"/>
                </a:solidFill>
              </a:rPr>
              <a:t>If size is 4, the last valid index is 3.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657600"/>
            <a:ext cx="3657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BFC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>
                <a:solidFill>
                  <a:srgbClr val="131F39"/>
                </a:solidFill>
              </a:rPr>
              <a:t>How to read a vector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131F39"/>
                </a:solidFill>
              </a:rPr>
              <a:t>A vector stores values in order. Each value has a position called an index, and indexing starts from 0.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3657600"/>
            <a:ext cx="3200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BFC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>
                <a:solidFill>
                  <a:srgbClr val="131F39"/>
                </a:solidFill>
              </a:rPr>
              <a:t>Think like this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131F39"/>
                </a:solidFill>
              </a:rPr>
              <a:t>Position 1st → index 0
Position 2nd → index 1
Position 3rd → index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3657600"/>
            <a:ext cx="28346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BFC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31F39"/>
                </a:solidFill>
              </a:rPr>
              <a:t>Game example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31F39"/>
                </a:solidFill>
              </a:rPr>
              <a:t>A vector could store player scores, enemy health values or collected items.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120640"/>
            <a:ext cx="10332720" cy="548640"/>
          </a:xfrm>
          <a:prstGeom prst="roundRect">
            <a:avLst/>
          </a:prstGeom>
          <a:solidFill>
            <a:srgbClr val="FFF8EB"/>
          </a:solidFill>
          <a:ln>
            <a:solidFill>
              <a:srgbClr val="F49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4931C"/>
                </a:solidFill>
              </a:rPr>
              <a:t>Key idea: index tells us where to look, and the index always starts at 0.</a:t>
            </a:r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CC94B9AF-0B43-D322-98D4-20C0783FA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20940" y="6146868"/>
            <a:ext cx="3832859" cy="182562"/>
          </a:xfrm>
        </p:spPr>
        <p:txBody>
          <a:bodyPr/>
          <a:lstStyle/>
          <a:p>
            <a:r>
              <a:rPr lang="en-US" dirty="0"/>
              <a:t>Data Structures and Algorithms, Week 3 </a:t>
            </a:r>
            <a:endParaRPr lang="en-IE" dirty="0"/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E91FB3FF-E31D-4AE4-2F1C-53E8F8AD2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6</a:t>
            </a:fld>
            <a:endParaRPr lang="en-I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/>
      <p:bldP spid="10" grpId="0" animBg="1"/>
      <p:bldP spid="11" grpId="0"/>
      <p:bldP spid="12" grpId="0" animBg="1"/>
      <p:bldP spid="13" grpId="0"/>
      <p:bldP spid="14" grpId="0" animBg="1"/>
      <p:bldP spid="15" grpId="0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31F39"/>
                </a:solidFill>
              </a:rPr>
              <a:t>Accessing Elements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4637D"/>
                </a:solidFill>
              </a:rPr>
              <a:t>Different ways to read values from a vector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868680"/>
            <a:ext cx="1097280" cy="347472"/>
          </a:xfrm>
          <a:prstGeom prst="roundRect">
            <a:avLst/>
          </a:prstGeom>
          <a:solidFill>
            <a:srgbClr val="E6EEFC"/>
          </a:solidFill>
          <a:ln>
            <a:solidFill>
              <a:srgbClr val="31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3166DD"/>
                </a:solidFill>
              </a:rPr>
              <a:t>Build 2/</a:t>
            </a:r>
            <a:r>
              <a:rPr lang="en-US" sz="1200" b="1" dirty="0">
                <a:solidFill>
                  <a:srgbClr val="3166DD"/>
                </a:solidFill>
              </a:rPr>
              <a:t>2</a:t>
            </a:r>
            <a:endParaRPr sz="1200" b="1" dirty="0">
              <a:solidFill>
                <a:srgbClr val="3166DD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4637D"/>
                </a:solidFill>
              </a:rPr>
              <a:t>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4637D"/>
                </a:solidFill>
              </a:rPr>
              <a:t>scores 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1508760"/>
            <a:ext cx="914400" cy="658368"/>
          </a:xfrm>
          <a:prstGeom prst="rect">
            <a:avLst/>
          </a:prstGeom>
          <a:solidFill>
            <a:srgbClr val="E6EEFC"/>
          </a:solidFill>
          <a:ln>
            <a:solidFill>
              <a:srgbClr val="BFC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31F39"/>
                </a:solidFill>
              </a:rPr>
              <a:t>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57984" y="221284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995AB"/>
                </a:solidFill>
              </a:rPr>
              <a:t>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508760"/>
            <a:ext cx="9144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BFC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31F39"/>
                </a:solidFill>
              </a:rPr>
              <a:t>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2384" y="221284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995AB"/>
                </a:solidFill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1508760"/>
            <a:ext cx="9144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BFC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31F39"/>
                </a:solidFill>
              </a:rPr>
              <a:t>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86784" y="221284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995AB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508760"/>
            <a:ext cx="914400" cy="658368"/>
          </a:xfrm>
          <a:prstGeom prst="rect">
            <a:avLst/>
          </a:prstGeom>
          <a:solidFill>
            <a:srgbClr val="FFF3E0"/>
          </a:solidFill>
          <a:ln>
            <a:solidFill>
              <a:srgbClr val="BFC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31F39"/>
                </a:solidFill>
              </a:rPr>
              <a:t>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1184" y="221284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995AB"/>
                </a:solidFill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880360"/>
            <a:ext cx="2468880" cy="1143000"/>
          </a:xfrm>
          <a:prstGeom prst="roundRect">
            <a:avLst/>
          </a:prstGeom>
          <a:solidFill>
            <a:srgbClr val="E6EEFC"/>
          </a:solidFill>
          <a:ln>
            <a:solidFill>
              <a:srgbClr val="31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3166DD"/>
                </a:solidFill>
              </a:rPr>
              <a:t>Using index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500" b="1">
                <a:solidFill>
                  <a:srgbClr val="131F39"/>
                </a:solidFill>
                <a:latin typeface="Courier New"/>
              </a:rPr>
              <a:t>scores[0]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54637D"/>
                </a:solidFill>
              </a:rPr>
              <a:t>Fast way to get the first element.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2880360"/>
            <a:ext cx="2468880" cy="1143000"/>
          </a:xfrm>
          <a:prstGeom prst="roundRect">
            <a:avLst/>
          </a:prstGeom>
          <a:solidFill>
            <a:srgbClr val="E6F8F6"/>
          </a:solidFill>
          <a:ln>
            <a:solidFill>
              <a:srgbClr val="21B0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1B0A5"/>
                </a:solidFill>
              </a:rPr>
              <a:t>Checked access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500" b="1">
                <a:solidFill>
                  <a:srgbClr val="131F39"/>
                </a:solidFill>
                <a:latin typeface="Courier New"/>
              </a:rPr>
              <a:t>scores.at(0)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54637D"/>
                </a:solidFill>
              </a:rPr>
              <a:t>Also gets the first element, but checks whether the index is valid.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880360"/>
            <a:ext cx="2468880" cy="1143000"/>
          </a:xfrm>
          <a:prstGeom prst="roundRect">
            <a:avLst/>
          </a:prstGeom>
          <a:solidFill>
            <a:srgbClr val="F0F5FF"/>
          </a:solidFill>
          <a:ln>
            <a:solidFill>
              <a:srgbClr val="71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7184BD"/>
                </a:solidFill>
              </a:rPr>
              <a:t>Front element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500" b="1">
                <a:solidFill>
                  <a:srgbClr val="131F39"/>
                </a:solidFill>
                <a:latin typeface="Courier New"/>
              </a:rPr>
              <a:t>scores.front()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54637D"/>
                </a:solidFill>
              </a:rPr>
              <a:t>Directly returns the first element in the vector.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2880360"/>
            <a:ext cx="2240280" cy="1143000"/>
          </a:xfrm>
          <a:prstGeom prst="roundRect">
            <a:avLst/>
          </a:prstGeom>
          <a:solidFill>
            <a:srgbClr val="FFF3E0"/>
          </a:solidFill>
          <a:ln>
            <a:solidFill>
              <a:srgbClr val="F49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4931C"/>
                </a:solidFill>
              </a:rPr>
              <a:t>Back element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500" b="1">
                <a:solidFill>
                  <a:srgbClr val="131F39"/>
                </a:solidFill>
                <a:latin typeface="Courier New"/>
              </a:rPr>
              <a:t>scores.back()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54637D"/>
                </a:solidFill>
              </a:rPr>
              <a:t>Directly returns the last element in the vector.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389120"/>
            <a:ext cx="10241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BFC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131F39"/>
                </a:solidFill>
              </a:rPr>
              <a:t>Which one should I use?</a:t>
            </a:r>
          </a:p>
          <a:p>
            <a:r>
              <a:rPr sz="1200" dirty="0">
                <a:solidFill>
                  <a:srgbClr val="54637D"/>
                </a:solidFill>
              </a:rPr>
              <a:t>• Use </a:t>
            </a:r>
            <a:r>
              <a:rPr sz="1200" b="1" dirty="0">
                <a:solidFill>
                  <a:srgbClr val="3166DD"/>
                </a:solidFill>
                <a:latin typeface="Courier New"/>
              </a:rPr>
              <a:t>[]</a:t>
            </a:r>
            <a:r>
              <a:rPr sz="1200" dirty="0">
                <a:solidFill>
                  <a:srgbClr val="54637D"/>
                </a:solidFill>
              </a:rPr>
              <a:t> when you already know the index is valid.   Use </a:t>
            </a:r>
            <a:r>
              <a:rPr sz="1200" b="1" dirty="0">
                <a:solidFill>
                  <a:srgbClr val="21B0A5"/>
                </a:solidFill>
                <a:latin typeface="Courier New"/>
              </a:rPr>
              <a:t>at()</a:t>
            </a:r>
            <a:r>
              <a:rPr sz="1200" dirty="0">
                <a:solidFill>
                  <a:srgbClr val="54637D"/>
                </a:solidFill>
              </a:rPr>
              <a:t> when you want safer checked access.</a:t>
            </a:r>
          </a:p>
          <a:p>
            <a:r>
              <a:rPr sz="1200" dirty="0">
                <a:solidFill>
                  <a:srgbClr val="54637D"/>
                </a:solidFill>
              </a:rPr>
              <a:t>• Use </a:t>
            </a:r>
            <a:r>
              <a:rPr sz="1200" b="1" dirty="0">
                <a:solidFill>
                  <a:srgbClr val="7184BD"/>
                </a:solidFill>
                <a:latin typeface="Courier New"/>
              </a:rPr>
              <a:t>front()</a:t>
            </a:r>
            <a:r>
              <a:rPr sz="1200" dirty="0">
                <a:solidFill>
                  <a:srgbClr val="54637D"/>
                </a:solidFill>
              </a:rPr>
              <a:t> and </a:t>
            </a:r>
            <a:r>
              <a:rPr sz="1200" b="1" dirty="0">
                <a:solidFill>
                  <a:srgbClr val="F4931C"/>
                </a:solidFill>
                <a:latin typeface="Courier New"/>
              </a:rPr>
              <a:t>back()</a:t>
            </a:r>
            <a:r>
              <a:rPr sz="1200" dirty="0">
                <a:solidFill>
                  <a:srgbClr val="54637D"/>
                </a:solidFill>
              </a:rPr>
              <a:t> when you specifically need the first or last element.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120640"/>
            <a:ext cx="10332720" cy="548640"/>
          </a:xfrm>
          <a:prstGeom prst="roundRect">
            <a:avLst/>
          </a:prstGeom>
          <a:solidFill>
            <a:srgbClr val="FFF8EB"/>
          </a:solidFill>
          <a:ln>
            <a:solidFill>
              <a:srgbClr val="F49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dirty="0">
                <a:solidFill>
                  <a:srgbClr val="F4931C"/>
                </a:solidFill>
              </a:rPr>
              <a:t>All four methods read values, but they are used in slightly different situations.</a:t>
            </a:r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6019C869-732A-1541-BF4E-740F76147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3770" y="6146868"/>
            <a:ext cx="4050029" cy="180000"/>
          </a:xfrm>
        </p:spPr>
        <p:txBody>
          <a:bodyPr/>
          <a:lstStyle/>
          <a:p>
            <a:r>
              <a:rPr lang="en-US" dirty="0"/>
              <a:t>Data Structures and Algorithms, Week 3 </a:t>
            </a:r>
            <a:endParaRPr lang="en-IE" dirty="0"/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6007832B-616E-317D-400D-5947B5843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7</a:t>
            </a:fld>
            <a:endParaRPr lang="en-I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Size ≠ Capacity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Two numbers students often confuse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37160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</a:rPr>
              <a:t>size = 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412480" y="1280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B8A6"/>
                </a:solidFill>
              </a:rPr>
              <a:t>capacity = 8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18288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51760" y="18288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0" y="18288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0" y="18288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0" y="18288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18288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66560" y="18288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589520" y="18288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0" y="2084832"/>
            <a:ext cx="822960" cy="65836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10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651760" y="2084832"/>
            <a:ext cx="822960" cy="65836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20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74720" y="2084832"/>
            <a:ext cx="822960" cy="65836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30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297680" y="2084832"/>
            <a:ext cx="822960" cy="65836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40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120640" y="2084832"/>
            <a:ext cx="822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943600" y="2084832"/>
            <a:ext cx="822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766560" y="2084832"/>
            <a:ext cx="822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589520" y="2084832"/>
            <a:ext cx="822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965960" y="2971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563EB"/>
                </a:solidFill>
              </a:rPr>
              <a:t>used elements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0" y="29718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prepared empty space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43000" y="4069080"/>
            <a:ext cx="4389120" cy="822960"/>
          </a:xfrm>
          <a:prstGeom prst="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</a:rPr>
              <a:t>size()</a:t>
            </a:r>
            <a:endParaRPr lang="en-US" sz="2000" b="1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0F172A"/>
                </a:solidFill>
              </a:rPr>
              <a:t>How many elements currently exist?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492240" y="4069080"/>
            <a:ext cx="4480560" cy="822960"/>
          </a:xfrm>
          <a:prstGeom prst="rect">
            <a:avLst/>
          </a:prstGeom>
          <a:solidFill>
            <a:srgbClr val="ECFEFF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capacity()</a:t>
            </a:r>
            <a:endParaRPr lang="en-US" sz="1700" b="1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0F172A"/>
                </a:solidFill>
              </a:rPr>
              <a:t>How many elements can fit before more storage may be needed?</a:t>
            </a:r>
            <a:endParaRPr lang="en-US" sz="1700" dirty="0"/>
          </a:p>
        </p:txBody>
      </p:sp>
      <p:sp>
        <p:nvSpPr>
          <p:cNvPr id="28" name="Footer Placeholder 27">
            <a:extLst>
              <a:ext uri="{FF2B5EF4-FFF2-40B4-BE49-F238E27FC236}">
                <a16:creationId xmlns:a16="http://schemas.microsoft.com/office/drawing/2014/main" id="{3E9B4E6F-7CFB-A36E-0A69-512083AA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40930" y="6146868"/>
            <a:ext cx="3912869" cy="180000"/>
          </a:xfrm>
        </p:spPr>
        <p:txBody>
          <a:bodyPr/>
          <a:lstStyle/>
          <a:p>
            <a:r>
              <a:rPr lang="en-US" dirty="0"/>
              <a:t>Data Structures and Algorithms, Week 3 </a:t>
            </a:r>
            <a:endParaRPr lang="en-IE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E2732A34-7D87-1132-D383-D02BBB764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8</a:t>
            </a:fld>
            <a:endParaRPr lang="en-I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31F39"/>
                </a:solidFill>
              </a:rPr>
              <a:t>What Happens When Capacity Runs Out?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6583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4637D"/>
                </a:solidFill>
              </a:rPr>
              <a:t>Before and after the push_back(50) operation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1234440"/>
            <a:ext cx="292608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BFC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54637D"/>
                </a:solidFill>
              </a:rPr>
              <a:t>Before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91640"/>
            <a:ext cx="548640" cy="621792"/>
          </a:xfrm>
          <a:prstGeom prst="rect">
            <a:avLst/>
          </a:prstGeom>
          <a:solidFill>
            <a:srgbClr val="F0F4FC"/>
          </a:solidFill>
          <a:ln>
            <a:solidFill>
              <a:srgbClr val="31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31F39"/>
                </a:solidFill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691640"/>
            <a:ext cx="548640" cy="621792"/>
          </a:xfrm>
          <a:prstGeom prst="rect">
            <a:avLst/>
          </a:prstGeom>
          <a:solidFill>
            <a:srgbClr val="F0F4FC"/>
          </a:solidFill>
          <a:ln>
            <a:solidFill>
              <a:srgbClr val="31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31F39"/>
                </a:solidFill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1691640"/>
            <a:ext cx="548640" cy="621792"/>
          </a:xfrm>
          <a:prstGeom prst="rect">
            <a:avLst/>
          </a:prstGeom>
          <a:solidFill>
            <a:srgbClr val="F0F4FC"/>
          </a:solidFill>
          <a:ln>
            <a:solidFill>
              <a:srgbClr val="31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31F39"/>
                </a:solidFill>
              </a:rPr>
              <a:t>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1691640"/>
            <a:ext cx="548640" cy="621792"/>
          </a:xfrm>
          <a:prstGeom prst="rect">
            <a:avLst/>
          </a:prstGeom>
          <a:solidFill>
            <a:srgbClr val="F0F4FC"/>
          </a:solidFill>
          <a:ln>
            <a:solidFill>
              <a:srgbClr val="31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31F39"/>
                </a:solidFill>
              </a:rPr>
              <a:t>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231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4637D"/>
                </a:solidFill>
              </a:rPr>
              <a:t>size =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4231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4637D"/>
                </a:solidFill>
              </a:rPr>
              <a:t>capacity = 4</a:t>
            </a:r>
          </a:p>
        </p:txBody>
      </p:sp>
      <p:sp>
        <p:nvSpPr>
          <p:cNvPr id="13" name="Chevron 12"/>
          <p:cNvSpPr/>
          <p:nvPr/>
        </p:nvSpPr>
        <p:spPr>
          <a:xfrm>
            <a:off x="3977639" y="1920240"/>
            <a:ext cx="914400" cy="502920"/>
          </a:xfrm>
          <a:prstGeom prst="chevron">
            <a:avLst/>
          </a:prstGeom>
          <a:solidFill>
            <a:srgbClr val="3166DD"/>
          </a:solidFill>
          <a:ln>
            <a:solidFill>
              <a:srgbClr val="31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657600" y="2560320"/>
            <a:ext cx="1554480" cy="658368"/>
          </a:xfrm>
          <a:prstGeom prst="roundRect">
            <a:avLst/>
          </a:prstGeom>
          <a:solidFill>
            <a:srgbClr val="E8F0FF"/>
          </a:solidFill>
          <a:ln>
            <a:solidFill>
              <a:srgbClr val="31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3166DD"/>
                </a:solidFill>
              </a:rPr>
              <a:t>push_back(50)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1234440"/>
            <a:ext cx="292608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BFC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54637D"/>
                </a:solidFill>
              </a:rPr>
              <a:t>After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1691640"/>
            <a:ext cx="548640" cy="621792"/>
          </a:xfrm>
          <a:prstGeom prst="rect">
            <a:avLst/>
          </a:prstGeom>
          <a:solidFill>
            <a:srgbClr val="E8F0FF"/>
          </a:solidFill>
          <a:ln>
            <a:solidFill>
              <a:srgbClr val="31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31F39"/>
                </a:solidFill>
              </a:rPr>
              <a:t>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691640"/>
            <a:ext cx="548640" cy="621792"/>
          </a:xfrm>
          <a:prstGeom prst="rect">
            <a:avLst/>
          </a:prstGeom>
          <a:solidFill>
            <a:srgbClr val="E8F0FF"/>
          </a:solidFill>
          <a:ln>
            <a:solidFill>
              <a:srgbClr val="31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31F39"/>
                </a:solidFill>
              </a:rPr>
              <a:t>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0" y="1691640"/>
            <a:ext cx="548640" cy="621792"/>
          </a:xfrm>
          <a:prstGeom prst="rect">
            <a:avLst/>
          </a:prstGeom>
          <a:solidFill>
            <a:srgbClr val="E8F0FF"/>
          </a:solidFill>
          <a:ln>
            <a:solidFill>
              <a:srgbClr val="31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31F39"/>
                </a:solidFill>
              </a:rPr>
              <a:t>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1691640"/>
            <a:ext cx="548640" cy="621792"/>
          </a:xfrm>
          <a:prstGeom prst="rect">
            <a:avLst/>
          </a:prstGeom>
          <a:solidFill>
            <a:srgbClr val="E8F0FF"/>
          </a:solidFill>
          <a:ln>
            <a:solidFill>
              <a:srgbClr val="31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31F39"/>
                </a:solidFill>
              </a:rPr>
              <a:t>40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1691640"/>
            <a:ext cx="548640" cy="621792"/>
          </a:xfrm>
          <a:prstGeom prst="rect">
            <a:avLst/>
          </a:prstGeom>
          <a:solidFill>
            <a:srgbClr val="FFF4E3"/>
          </a:solidFill>
          <a:ln>
            <a:solidFill>
              <a:srgbClr val="31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31F39"/>
                </a:solidFill>
              </a:rPr>
              <a:t>50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1691640"/>
            <a:ext cx="5486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BFC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61120" y="1691640"/>
            <a:ext cx="5486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BFC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509760" y="1691640"/>
            <a:ext cx="5486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BFC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0" y="24231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4637D"/>
                </a:solidFill>
              </a:rPr>
              <a:t>size =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24231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4637D"/>
                </a:solidFill>
              </a:rPr>
              <a:t>capacity is larger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3794760"/>
            <a:ext cx="48463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BFC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31F39"/>
                </a:solidFill>
              </a:rPr>
              <a:t>Why did this happen?</a:t>
            </a:r>
          </a:p>
          <a:p>
            <a:r>
              <a:rPr sz="1200">
                <a:solidFill>
                  <a:srgbClr val="54637D"/>
                </a:solidFill>
              </a:rPr>
              <a:t>The old vector had no free slot, so it needed a larger storage block before adding 50.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3794760"/>
            <a:ext cx="4572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BFC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131F39"/>
                </a:solidFill>
              </a:rPr>
              <a:t>What should you remember?</a:t>
            </a:r>
          </a:p>
          <a:p>
            <a:r>
              <a:rPr sz="1200" dirty="0">
                <a:solidFill>
                  <a:srgbClr val="54637D"/>
                </a:solidFill>
              </a:rPr>
              <a:t>Most </a:t>
            </a:r>
            <a:r>
              <a:rPr sz="1200" dirty="0" err="1">
                <a:solidFill>
                  <a:srgbClr val="54637D"/>
                </a:solidFill>
              </a:rPr>
              <a:t>push_back</a:t>
            </a:r>
            <a:r>
              <a:rPr sz="1200" dirty="0">
                <a:solidFill>
                  <a:srgbClr val="54637D"/>
                </a:solidFill>
              </a:rPr>
              <a:t>() calls are simple, but occasionally the vector must reallocate and move old elements.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5166360"/>
            <a:ext cx="10332720" cy="566928"/>
          </a:xfrm>
          <a:prstGeom prst="roundRect">
            <a:avLst/>
          </a:prstGeom>
          <a:solidFill>
            <a:srgbClr val="FFF8EB"/>
          </a:solidFill>
          <a:ln>
            <a:solidFill>
              <a:srgbClr val="F49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4931C"/>
                </a:solidFill>
              </a:rPr>
              <a:t>Self-check: if size = 5 and capacity = 8, can we add one more element without reallocation? Yes.</a:t>
            </a:r>
          </a:p>
        </p:txBody>
      </p:sp>
      <p:sp>
        <p:nvSpPr>
          <p:cNvPr id="32" name="Footer Placeholder 31">
            <a:extLst>
              <a:ext uri="{FF2B5EF4-FFF2-40B4-BE49-F238E27FC236}">
                <a16:creationId xmlns:a16="http://schemas.microsoft.com/office/drawing/2014/main" id="{05D8A09A-CED7-E13F-860F-3E403A020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63840" y="6146868"/>
            <a:ext cx="3489959" cy="180000"/>
          </a:xfrm>
        </p:spPr>
        <p:txBody>
          <a:bodyPr/>
          <a:lstStyle/>
          <a:p>
            <a:r>
              <a:rPr lang="en-US" dirty="0"/>
              <a:t>Data Structures and Algorithms, Week 3 </a:t>
            </a:r>
            <a:endParaRPr lang="en-IE" dirty="0"/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9D37F873-19F5-6472-E696-C040015A0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9</a:t>
            </a:fld>
            <a:endParaRPr lang="en-I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148590"/>
            <a:ext cx="9601200" cy="438912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/>
            <a:r>
              <a:rPr sz="2500" b="1">
                <a:solidFill>
                  <a:srgbClr val="111C34"/>
                </a:solidFill>
                <a:latin typeface="Aptos"/>
              </a:rPr>
              <a:t>reserve(): Planning Ahead, Not Creating Objects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33222"/>
            <a:ext cx="7863840" cy="292608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/>
            <a:r>
              <a:rPr sz="1250" b="0">
                <a:solidFill>
                  <a:srgbClr val="505F78"/>
                </a:solidFill>
                <a:latin typeface="Aptos"/>
              </a:rPr>
              <a:t>reserve() prepares storage capacity in advance; it does not create actual vector elements.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62990"/>
            <a:ext cx="34290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245870"/>
            <a:ext cx="246888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/>
            <a:r>
              <a:rPr sz="1500" b="1">
                <a:solidFill>
                  <a:srgbClr val="3166DD"/>
                </a:solidFill>
                <a:latin typeface="Aptos"/>
              </a:rPr>
              <a:t>1. The situation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11630"/>
            <a:ext cx="2926080" cy="566928"/>
          </a:xfrm>
          <a:prstGeom prst="roundRect">
            <a:avLst/>
          </a:prstGeom>
          <a:solidFill>
            <a:srgbClr val="E8F0FF"/>
          </a:solidFill>
          <a:ln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11C34"/>
                </a:solidFill>
              </a:rPr>
              <a:t>A level may contain
around 1,000 enemies.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88870"/>
            <a:ext cx="2926080" cy="1051560"/>
          </a:xfrm>
          <a:prstGeom prst="roundRect">
            <a:avLst/>
          </a:prstGeom>
          <a:solidFill>
            <a:srgbClr val="0C1932"/>
          </a:solidFill>
          <a:ln>
            <a:solidFill>
              <a:srgbClr val="0C1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tlCol="0" anchor="ctr"/>
          <a:lstStyle/>
          <a:p>
            <a:pPr algn="ctr"/>
            <a:r>
              <a:rPr sz="1350">
                <a:solidFill>
                  <a:srgbClr val="EBF0F7"/>
                </a:solidFill>
                <a:latin typeface="Courier New"/>
              </a:rPr>
              <a:t>std::vector&lt;Enemy&gt; enemies;</a:t>
            </a:r>
          </a:p>
          <a:p>
            <a:endParaRPr sz="1350">
              <a:solidFill>
                <a:srgbClr val="EBF0F7"/>
              </a:solidFill>
              <a:latin typeface="Courier New"/>
            </a:endParaRPr>
          </a:p>
          <a:p>
            <a:r>
              <a:rPr sz="1350">
                <a:solidFill>
                  <a:srgbClr val="EBF0F7"/>
                </a:solidFill>
                <a:latin typeface="Courier New"/>
              </a:rPr>
              <a:t>enemies.reserve(1000);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559302"/>
            <a:ext cx="2788920" cy="3200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ctr"/>
            <a:r>
              <a:rPr sz="1150" b="0">
                <a:solidFill>
                  <a:srgbClr val="505F78"/>
                </a:solidFill>
                <a:latin typeface="Aptos"/>
              </a:rPr>
              <a:t>We are telling the vector to prepare for many elements later.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062990"/>
            <a:ext cx="352044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245870"/>
            <a:ext cx="292608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/>
            <a:r>
              <a:rPr sz="1500" b="1">
                <a:solidFill>
                  <a:srgbClr val="18AC9E"/>
                </a:solidFill>
                <a:latin typeface="Aptos"/>
              </a:rPr>
              <a:t>2. What reserve() changes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611630"/>
            <a:ext cx="1508760" cy="621792"/>
          </a:xfrm>
          <a:prstGeom prst="roundRect">
            <a:avLst/>
          </a:prstGeom>
          <a:solidFill>
            <a:srgbClr val="E8F0FF"/>
          </a:solidFill>
          <a:ln>
            <a:solidFill>
              <a:srgbClr val="31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05F78"/>
                </a:solidFill>
              </a:rPr>
              <a:t>size
</a:t>
            </a:r>
            <a:r>
              <a:rPr sz="1700" b="1">
                <a:solidFill>
                  <a:srgbClr val="3166DD"/>
                </a:solidFill>
              </a:rPr>
              <a:t>=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611630"/>
            <a:ext cx="1508760" cy="621792"/>
          </a:xfrm>
          <a:prstGeom prst="roundRect">
            <a:avLst/>
          </a:prstGeom>
          <a:solidFill>
            <a:srgbClr val="E6F8F5"/>
          </a:solidFill>
          <a:ln>
            <a:solidFill>
              <a:srgbClr val="18A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05F78"/>
                </a:solidFill>
              </a:rPr>
              <a:t>capacity
</a:t>
            </a:r>
            <a:r>
              <a:rPr sz="1700" b="1">
                <a:solidFill>
                  <a:srgbClr val="18AC9E"/>
                </a:solidFill>
              </a:rPr>
              <a:t>≥ 1000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88870"/>
            <a:ext cx="2926080" cy="1828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ctr"/>
            <a:r>
              <a:rPr sz="1300" b="1">
                <a:solidFill>
                  <a:srgbClr val="111C34"/>
                </a:solidFill>
                <a:latin typeface="Aptos"/>
              </a:rPr>
              <a:t>Car park analogy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2736342"/>
            <a:ext cx="292608" cy="329184"/>
          </a:xfrm>
          <a:prstGeom prst="rect">
            <a:avLst/>
          </a:prstGeom>
          <a:solidFill>
            <a:srgbClr val="FAFCFF"/>
          </a:solidFill>
          <a:ln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9BA8BC"/>
                </a:solidFill>
              </a:rPr>
              <a:t>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65192" y="2736342"/>
            <a:ext cx="292608" cy="329184"/>
          </a:xfrm>
          <a:prstGeom prst="rect">
            <a:avLst/>
          </a:prstGeom>
          <a:solidFill>
            <a:srgbClr val="FAFCFF"/>
          </a:solidFill>
          <a:ln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9BA8BC"/>
                </a:solidFill>
              </a:rPr>
              <a:t>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12664" y="2736342"/>
            <a:ext cx="292608" cy="329184"/>
          </a:xfrm>
          <a:prstGeom prst="rect">
            <a:avLst/>
          </a:prstGeom>
          <a:solidFill>
            <a:srgbClr val="FAFCFF"/>
          </a:solidFill>
          <a:ln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9BA8BC"/>
                </a:solidFill>
              </a:rPr>
              <a:t>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0136" y="2736342"/>
            <a:ext cx="292608" cy="329184"/>
          </a:xfrm>
          <a:prstGeom prst="rect">
            <a:avLst/>
          </a:prstGeom>
          <a:solidFill>
            <a:srgbClr val="FAFCFF"/>
          </a:solidFill>
          <a:ln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9BA8BC"/>
                </a:solidFill>
              </a:rPr>
              <a:t>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07608" y="2736342"/>
            <a:ext cx="292608" cy="329184"/>
          </a:xfrm>
          <a:prstGeom prst="rect">
            <a:avLst/>
          </a:prstGeom>
          <a:solidFill>
            <a:srgbClr val="FAFCFF"/>
          </a:solidFill>
          <a:ln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9BA8BC"/>
                </a:solidFill>
              </a:rPr>
              <a:t>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79" y="2736342"/>
            <a:ext cx="292608" cy="329184"/>
          </a:xfrm>
          <a:prstGeom prst="rect">
            <a:avLst/>
          </a:prstGeom>
          <a:solidFill>
            <a:srgbClr val="FAFCFF"/>
          </a:solidFill>
          <a:ln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9BA8BC"/>
                </a:solidFill>
              </a:rPr>
              <a:t>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02552" y="2736342"/>
            <a:ext cx="292608" cy="329184"/>
          </a:xfrm>
          <a:prstGeom prst="rect">
            <a:avLst/>
          </a:prstGeom>
          <a:solidFill>
            <a:srgbClr val="FAFCFF"/>
          </a:solidFill>
          <a:ln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9BA8BC"/>
                </a:solidFill>
              </a:rPr>
              <a:t>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0024" y="2736342"/>
            <a:ext cx="292608" cy="329184"/>
          </a:xfrm>
          <a:prstGeom prst="rect">
            <a:avLst/>
          </a:prstGeom>
          <a:solidFill>
            <a:srgbClr val="FAFCFF"/>
          </a:solidFill>
          <a:ln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9BA8BC"/>
                </a:solidFill>
              </a:rPr>
              <a:t>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2" y="3166110"/>
            <a:ext cx="2788920" cy="4114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ctr"/>
            <a:r>
              <a:rPr sz="1050" b="0">
                <a:solidFill>
                  <a:srgbClr val="505F78"/>
                </a:solidFill>
                <a:latin typeface="Aptos"/>
              </a:rPr>
              <a:t>capacity = prepared spaces
size = cars/enemies currently inside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79" y="1062990"/>
            <a:ext cx="34290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0" y="1245870"/>
            <a:ext cx="283464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/>
            <a:r>
              <a:rPr sz="1500" b="1">
                <a:solidFill>
                  <a:srgbClr val="F59119"/>
                </a:solidFill>
                <a:latin typeface="Aptos"/>
              </a:rPr>
              <a:t>3. What reserve() does not 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0" y="1611630"/>
            <a:ext cx="2834640" cy="841248"/>
          </a:xfrm>
          <a:prstGeom prst="roundRect">
            <a:avLst/>
          </a:prstGeom>
          <a:solidFill>
            <a:srgbClr val="FFF4E4"/>
          </a:solidFill>
          <a:ln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59119"/>
                </a:solidFill>
              </a:rPr>
              <a:t>It does not create
1,000 enemies.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617470"/>
            <a:ext cx="2834640" cy="201168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ctr"/>
            <a:r>
              <a:rPr sz="1250" b="1">
                <a:solidFill>
                  <a:srgbClr val="111C34"/>
                </a:solidFill>
                <a:latin typeface="Aptos"/>
              </a:rPr>
              <a:t>Later, when you add enemies: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77072" y="2919222"/>
            <a:ext cx="2514600" cy="402336"/>
          </a:xfrm>
          <a:prstGeom prst="rect">
            <a:avLst/>
          </a:prstGeom>
          <a:solidFill>
            <a:srgbClr val="FAFCFF"/>
          </a:solidFill>
          <a:ln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622792" y="2955798"/>
            <a:ext cx="347472" cy="292608"/>
          </a:xfrm>
          <a:prstGeom prst="rect">
            <a:avLst/>
          </a:prstGeom>
          <a:solidFill>
            <a:srgbClr val="E8F0FF"/>
          </a:solidFill>
          <a:ln>
            <a:solidFill>
              <a:srgbClr val="31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111C34"/>
                </a:solidFill>
              </a:rPr>
              <a:t>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79992" y="2955798"/>
            <a:ext cx="347472" cy="292608"/>
          </a:xfrm>
          <a:prstGeom prst="rect">
            <a:avLst/>
          </a:prstGeom>
          <a:solidFill>
            <a:srgbClr val="E8F0FF"/>
          </a:solidFill>
          <a:ln>
            <a:solidFill>
              <a:srgbClr val="31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111C34"/>
                </a:solidFill>
              </a:rPr>
              <a:t>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7192" y="2955798"/>
            <a:ext cx="347472" cy="292608"/>
          </a:xfrm>
          <a:prstGeom prst="rect">
            <a:avLst/>
          </a:prstGeom>
          <a:solidFill>
            <a:srgbClr val="FFFFFF"/>
          </a:solidFill>
          <a:ln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994392" y="2955798"/>
            <a:ext cx="347472" cy="292608"/>
          </a:xfrm>
          <a:prstGeom prst="rect">
            <a:avLst/>
          </a:prstGeom>
          <a:solidFill>
            <a:srgbClr val="FFFFFF"/>
          </a:solidFill>
          <a:ln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451592" y="2955798"/>
            <a:ext cx="347472" cy="292608"/>
          </a:xfrm>
          <a:prstGeom prst="rect">
            <a:avLst/>
          </a:prstGeom>
          <a:solidFill>
            <a:srgbClr val="FFFFFF"/>
          </a:solidFill>
          <a:ln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12480" y="3376422"/>
            <a:ext cx="2834640" cy="4114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ctr"/>
            <a:r>
              <a:rPr sz="1080" b="0">
                <a:solidFill>
                  <a:srgbClr val="505F78"/>
                </a:solidFill>
                <a:latin typeface="Aptos"/>
              </a:rPr>
              <a:t>After 2 push_back() calls:
size = 2, capacity ≥ 1000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4491990"/>
            <a:ext cx="10332720" cy="548640"/>
          </a:xfrm>
          <a:prstGeom prst="roundRect">
            <a:avLst/>
          </a:prstGeom>
          <a:solidFill>
            <a:srgbClr val="FFF4E4"/>
          </a:solidFill>
          <a:ln>
            <a:solidFill>
              <a:srgbClr val="F5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F59119"/>
                </a:solidFill>
              </a:rPr>
              <a:t>reserve(1000) = prepare space, not create objects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5205222"/>
            <a:ext cx="103327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lang="en-US" sz="1500" b="1" dirty="0">
                <a:solidFill>
                  <a:srgbClr val="111C34"/>
                </a:solidFill>
              </a:rPr>
              <a:t>Ex</a:t>
            </a:r>
            <a:r>
              <a:rPr sz="1500" b="1" dirty="0">
                <a:solidFill>
                  <a:srgbClr val="111C34"/>
                </a:solidFill>
              </a:rPr>
              <a:t>planation: </a:t>
            </a:r>
            <a:r>
              <a:rPr sz="1400" dirty="0">
                <a:solidFill>
                  <a:srgbClr val="111C34"/>
                </a:solidFill>
              </a:rPr>
              <a:t>You are booking 1,000 parking spaces for future enemies. At the start, no enemies are parked, so size is still 0. Actual enemies appear only when you add them using </a:t>
            </a:r>
            <a:r>
              <a:rPr sz="1400" dirty="0" err="1">
                <a:solidFill>
                  <a:srgbClr val="111C34"/>
                </a:solidFill>
              </a:rPr>
              <a:t>push_back</a:t>
            </a:r>
            <a:r>
              <a:rPr sz="1400" dirty="0">
                <a:solidFill>
                  <a:srgbClr val="111C34"/>
                </a:solidFill>
              </a:rPr>
              <a:t>(), </a:t>
            </a:r>
            <a:r>
              <a:rPr sz="1400" dirty="0" err="1">
                <a:solidFill>
                  <a:srgbClr val="111C34"/>
                </a:solidFill>
              </a:rPr>
              <a:t>emplace_back</a:t>
            </a:r>
            <a:r>
              <a:rPr sz="1400" dirty="0">
                <a:solidFill>
                  <a:srgbClr val="111C34"/>
                </a:solidFill>
              </a:rPr>
              <a:t>(), resize(), etc.</a:t>
            </a:r>
          </a:p>
        </p:txBody>
      </p:sp>
      <p:sp>
        <p:nvSpPr>
          <p:cNvPr id="40" name="Footer Placeholder 39">
            <a:extLst>
              <a:ext uri="{FF2B5EF4-FFF2-40B4-BE49-F238E27FC236}">
                <a16:creationId xmlns:a16="http://schemas.microsoft.com/office/drawing/2014/main" id="{D0553FBE-DA69-8B38-4D00-CD2457A90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98080" y="6112578"/>
            <a:ext cx="3855719" cy="249360"/>
          </a:xfrm>
        </p:spPr>
        <p:txBody>
          <a:bodyPr/>
          <a:lstStyle/>
          <a:p>
            <a:r>
              <a:rPr lang="en-US" dirty="0"/>
              <a:t>Data Structures and Algorithms, Week 3 </a:t>
            </a:r>
            <a:endParaRPr lang="en-IE" dirty="0"/>
          </a:p>
        </p:txBody>
      </p: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0D9DC572-BC51-F73E-1758-8B7FEF89D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10</a:t>
            </a:fld>
            <a:endParaRPr lang="en-I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animBg="1"/>
      <p:bldP spid="9" grpId="0"/>
      <p:bldP spid="10" grpId="0" animBg="1"/>
      <p:bldP spid="11" grpId="0"/>
      <p:bldP spid="12" grpId="0" animBg="1"/>
      <p:bldP spid="13" grpId="0" animBg="1"/>
      <p:bldP spid="14" grpId="0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/>
      <p:bldP spid="24" grpId="0" animBg="1"/>
      <p:bldP spid="25" grpId="0"/>
      <p:bldP spid="26" grpId="0" animBg="1"/>
      <p:bldP spid="27" grpId="0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/>
      <p:bldP spid="35" grpId="0" animBg="1"/>
      <p:bldP spid="3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96596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31F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reserve() vs resize()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681228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3637D"/>
                </a:solidFill>
              </a:rPr>
              <a:t>They sound similar, but they solve different problems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47488" y="1056132"/>
            <a:ext cx="2057400" cy="274320"/>
          </a:xfrm>
          <a:prstGeom prst="roundRect">
            <a:avLst/>
          </a:prstGeom>
          <a:solidFill>
            <a:srgbClr val="FFF4E3"/>
          </a:solidFill>
          <a:ln>
            <a:solidFill>
              <a:srgbClr val="F4931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931C"/>
                </a:solidFill>
              </a:rPr>
              <a:t>Main difference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794760" y="136474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31F39"/>
                </a:solidFill>
              </a:rPr>
              <a:t>reserve prepares space. resize creates elements.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1732788"/>
            <a:ext cx="5074920" cy="352044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5240">
            <a:solidFill>
              <a:srgbClr val="3166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42516"/>
            <a:ext cx="4617720" cy="347472"/>
          </a:xfrm>
          <a:prstGeom prst="roundRect">
            <a:avLst>
              <a:gd name="adj" fmla="val 21053"/>
            </a:avLst>
          </a:prstGeom>
          <a:solidFill>
            <a:srgbClr val="E8F0FF"/>
          </a:solidFill>
          <a:ln>
            <a:solidFill>
              <a:srgbClr val="3166DD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166DD"/>
                </a:solidFill>
              </a:rPr>
              <a:t>reserve(100)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244852"/>
            <a:ext cx="4617720" cy="731520"/>
          </a:xfrm>
          <a:prstGeom prst="roundRect">
            <a:avLst>
              <a:gd name="adj" fmla="val 6250"/>
            </a:avLst>
          </a:prstGeom>
          <a:solidFill>
            <a:srgbClr val="0B1835"/>
          </a:solidFill>
          <a:ln>
            <a:solidFill>
              <a:srgbClr val="0B183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std::vector&lt;int&gt; v;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v.reserve(100);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14400" y="3031236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3637D"/>
                </a:solidFill>
              </a:rPr>
              <a:t>Prepared storage — but no actual elements yet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88720" y="3314700"/>
            <a:ext cx="384048" cy="502920"/>
          </a:xfrm>
          <a:prstGeom prst="rect">
            <a:avLst/>
          </a:prstGeom>
          <a:solidFill>
            <a:srgbClr val="FAFCFF"/>
          </a:solidFill>
          <a:ln w="12700">
            <a:solidFill>
              <a:srgbClr val="3166D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72768" y="3314700"/>
            <a:ext cx="384048" cy="502920"/>
          </a:xfrm>
          <a:prstGeom prst="rect">
            <a:avLst/>
          </a:prstGeom>
          <a:solidFill>
            <a:srgbClr val="FAFCFF"/>
          </a:solidFill>
          <a:ln w="12700">
            <a:solidFill>
              <a:srgbClr val="3166D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56816" y="3314700"/>
            <a:ext cx="384048" cy="502920"/>
          </a:xfrm>
          <a:prstGeom prst="rect">
            <a:avLst/>
          </a:prstGeom>
          <a:solidFill>
            <a:srgbClr val="FAFCFF"/>
          </a:solidFill>
          <a:ln w="12700">
            <a:solidFill>
              <a:srgbClr val="3166D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40864" y="3314700"/>
            <a:ext cx="384048" cy="502920"/>
          </a:xfrm>
          <a:prstGeom prst="rect">
            <a:avLst/>
          </a:prstGeom>
          <a:solidFill>
            <a:srgbClr val="FAFCFF"/>
          </a:solidFill>
          <a:ln w="12700">
            <a:solidFill>
              <a:srgbClr val="3166D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24912" y="3314700"/>
            <a:ext cx="384048" cy="502920"/>
          </a:xfrm>
          <a:prstGeom prst="rect">
            <a:avLst/>
          </a:prstGeom>
          <a:solidFill>
            <a:srgbClr val="FAFCFF"/>
          </a:solidFill>
          <a:ln w="12700">
            <a:solidFill>
              <a:srgbClr val="3166D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08960" y="3314700"/>
            <a:ext cx="3840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9D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93008" y="3314700"/>
            <a:ext cx="3840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9D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77056" y="3314700"/>
            <a:ext cx="3840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9D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61104" y="3314700"/>
            <a:ext cx="3840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9D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45152" y="3314700"/>
            <a:ext cx="3840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9D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34335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3637D"/>
                </a:solidFill>
              </a:rPr>
              <a:t>...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381762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3637D"/>
                </a:solidFill>
              </a:rPr>
              <a:t>capacity prepared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4091940"/>
            <a:ext cx="2080260" cy="365760"/>
          </a:xfrm>
          <a:prstGeom prst="roundRect">
            <a:avLst/>
          </a:prstGeom>
          <a:solidFill>
            <a:srgbClr val="E8F0FF"/>
          </a:solidFill>
          <a:ln>
            <a:solidFill>
              <a:srgbClr val="3166DD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166DD"/>
                </a:solidFill>
              </a:rPr>
              <a:t>size = 0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3387852" y="4091940"/>
            <a:ext cx="2080260" cy="365760"/>
          </a:xfrm>
          <a:prstGeom prst="roundRect">
            <a:avLst/>
          </a:prstGeom>
          <a:solidFill>
            <a:srgbClr val="E8F8F5"/>
          </a:solidFill>
          <a:ln>
            <a:solidFill>
              <a:srgbClr val="21B0A5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1B0A5"/>
                </a:solidFill>
              </a:rPr>
              <a:t>capacity ≥ 100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914400" y="4604004"/>
            <a:ext cx="4617720" cy="530352"/>
          </a:xfrm>
          <a:prstGeom prst="roundRect">
            <a:avLst>
              <a:gd name="adj" fmla="val 8621"/>
            </a:avLst>
          </a:prstGeom>
          <a:solidFill>
            <a:srgbClr val="F7FAFF"/>
          </a:solidFill>
          <a:ln w="12700">
            <a:solidFill>
              <a:srgbClr val="3166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4658868"/>
            <a:ext cx="4434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166DD"/>
                </a:solidFill>
              </a:rPr>
              <a:t>Meaning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05840" y="4869180"/>
            <a:ext cx="4434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1F39"/>
                </a:solidFill>
              </a:rPr>
              <a:t>Room is prepared, but v[0] does not exist yet.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28232" y="1732788"/>
            <a:ext cx="5074920" cy="352044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5240">
            <a:solidFill>
              <a:srgbClr val="21B0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56832" y="1842516"/>
            <a:ext cx="4617720" cy="347472"/>
          </a:xfrm>
          <a:prstGeom prst="roundRect">
            <a:avLst>
              <a:gd name="adj" fmla="val 21053"/>
            </a:avLst>
          </a:prstGeom>
          <a:solidFill>
            <a:srgbClr val="E8F8F5"/>
          </a:solidFill>
          <a:ln>
            <a:solidFill>
              <a:srgbClr val="21B0A5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B0A5"/>
                </a:solidFill>
              </a:rPr>
              <a:t>resize(100)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656832" y="2244852"/>
            <a:ext cx="4617720" cy="731520"/>
          </a:xfrm>
          <a:prstGeom prst="roundRect">
            <a:avLst>
              <a:gd name="adj" fmla="val 6250"/>
            </a:avLst>
          </a:prstGeom>
          <a:solidFill>
            <a:srgbClr val="0B1835"/>
          </a:solidFill>
          <a:ln>
            <a:solidFill>
              <a:srgbClr val="0B183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std::vector&lt;int&gt; v;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v.resize(100);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6656832" y="3031236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3637D"/>
                </a:solidFill>
              </a:rPr>
              <a:t>Actual elements now exist inside the vector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931152" y="3314700"/>
            <a:ext cx="384048" cy="502920"/>
          </a:xfrm>
          <a:prstGeom prst="rect">
            <a:avLst/>
          </a:prstGeom>
          <a:solidFill>
            <a:srgbClr val="E8F8F5"/>
          </a:solidFill>
          <a:ln w="12700">
            <a:solidFill>
              <a:srgbClr val="21B0A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1F39"/>
                </a:solidFill>
              </a:rPr>
              <a:t>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0" y="3314700"/>
            <a:ext cx="384048" cy="502920"/>
          </a:xfrm>
          <a:prstGeom prst="rect">
            <a:avLst/>
          </a:prstGeom>
          <a:solidFill>
            <a:srgbClr val="E8F8F5"/>
          </a:solidFill>
          <a:ln w="12700">
            <a:solidFill>
              <a:srgbClr val="21B0A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1F39"/>
                </a:solidFill>
              </a:rPr>
              <a:t>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699248" y="3314700"/>
            <a:ext cx="384048" cy="502920"/>
          </a:xfrm>
          <a:prstGeom prst="rect">
            <a:avLst/>
          </a:prstGeom>
          <a:solidFill>
            <a:srgbClr val="E8F8F5"/>
          </a:solidFill>
          <a:ln w="12700">
            <a:solidFill>
              <a:srgbClr val="21B0A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1F39"/>
                </a:solidFill>
              </a:rPr>
              <a:t>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083296" y="3314700"/>
            <a:ext cx="384048" cy="502920"/>
          </a:xfrm>
          <a:prstGeom prst="rect">
            <a:avLst/>
          </a:prstGeom>
          <a:solidFill>
            <a:srgbClr val="E8F8F5"/>
          </a:solidFill>
          <a:ln w="12700">
            <a:solidFill>
              <a:srgbClr val="21B0A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1F39"/>
                </a:solidFill>
              </a:rPr>
              <a:t>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467344" y="3314700"/>
            <a:ext cx="384048" cy="502920"/>
          </a:xfrm>
          <a:prstGeom prst="rect">
            <a:avLst/>
          </a:prstGeom>
          <a:solidFill>
            <a:srgbClr val="E8F8F5"/>
          </a:solidFill>
          <a:ln w="12700">
            <a:solidFill>
              <a:srgbClr val="21B0A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1F39"/>
                </a:solidFill>
              </a:rPr>
              <a:t>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851392" y="3314700"/>
            <a:ext cx="3840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9D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235440" y="3314700"/>
            <a:ext cx="3840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9D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619488" y="3314700"/>
            <a:ext cx="3840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9D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003536" y="3314700"/>
            <a:ext cx="3840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9D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387584" y="3314700"/>
            <a:ext cx="3840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9D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844784" y="34335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3637D"/>
                </a:solidFill>
              </a:rPr>
              <a:t>...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976872" y="381762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3637D"/>
                </a:solidFill>
              </a:rPr>
              <a:t>100 default int values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39712" y="4091940"/>
            <a:ext cx="2080260" cy="365760"/>
          </a:xfrm>
          <a:prstGeom prst="roundRect">
            <a:avLst/>
          </a:prstGeom>
          <a:solidFill>
            <a:srgbClr val="E8F0FF"/>
          </a:solidFill>
          <a:ln>
            <a:solidFill>
              <a:srgbClr val="3166DD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166DD"/>
                </a:solidFill>
              </a:rPr>
              <a:t>size = 100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9130284" y="4091940"/>
            <a:ext cx="2080260" cy="365760"/>
          </a:xfrm>
          <a:prstGeom prst="roundRect">
            <a:avLst/>
          </a:prstGeom>
          <a:solidFill>
            <a:srgbClr val="E8F8F5"/>
          </a:solidFill>
          <a:ln>
            <a:solidFill>
              <a:srgbClr val="21B0A5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1B0A5"/>
                </a:solidFill>
              </a:rPr>
              <a:t>capacity ≥ 100</a:t>
            </a:r>
            <a:endParaRPr lang="en-US" sz="1550" dirty="0"/>
          </a:p>
        </p:txBody>
      </p:sp>
      <p:sp>
        <p:nvSpPr>
          <p:cNvPr id="46" name="Shape 44"/>
          <p:cNvSpPr/>
          <p:nvPr/>
        </p:nvSpPr>
        <p:spPr>
          <a:xfrm>
            <a:off x="6656832" y="4604004"/>
            <a:ext cx="4617720" cy="530352"/>
          </a:xfrm>
          <a:prstGeom prst="roundRect">
            <a:avLst>
              <a:gd name="adj" fmla="val 8621"/>
            </a:avLst>
          </a:prstGeom>
          <a:solidFill>
            <a:srgbClr val="F6FFFD"/>
          </a:solidFill>
          <a:ln w="12700">
            <a:solidFill>
              <a:srgbClr val="21B0A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48272" y="4658868"/>
            <a:ext cx="4434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B0A5"/>
                </a:solidFill>
              </a:rPr>
              <a:t>Meaning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6748272" y="4869180"/>
            <a:ext cx="4434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1F39"/>
                </a:solidFill>
              </a:rPr>
              <a:t>100 elements exist, so v[0] to v[99] are valid.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806440" y="3214116"/>
            <a:ext cx="502920" cy="384048"/>
          </a:xfrm>
          <a:prstGeom prst="ellipse">
            <a:avLst/>
          </a:prstGeom>
          <a:solidFill>
            <a:srgbClr val="131F39"/>
          </a:solidFill>
          <a:ln>
            <a:solidFill>
              <a:srgbClr val="131F3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14400" y="5298948"/>
            <a:ext cx="10287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31F39"/>
                </a:solidFill>
              </a:rPr>
              <a:t>Question: Which one would you use before adding many enemies with push_back()?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914400" y="5618988"/>
            <a:ext cx="10287000" cy="347472"/>
          </a:xfrm>
          <a:prstGeom prst="roundRect">
            <a:avLst/>
          </a:prstGeom>
          <a:solidFill>
            <a:srgbClr val="FFF4E3"/>
          </a:solidFill>
          <a:ln>
            <a:solidFill>
              <a:srgbClr val="F4931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F4931C"/>
                </a:solidFill>
              </a:rPr>
              <a:t>Answer: use reserve(100). It prepares enough storage and avoids repeated reallocations, without creating 100 enemies first.</a:t>
            </a:r>
            <a:endParaRPr lang="en-US" sz="1520" dirty="0"/>
          </a:p>
        </p:txBody>
      </p:sp>
      <p:sp>
        <p:nvSpPr>
          <p:cNvPr id="56" name="Text 30">
            <a:extLst>
              <a:ext uri="{FF2B5EF4-FFF2-40B4-BE49-F238E27FC236}">
                <a16:creationId xmlns:a16="http://schemas.microsoft.com/office/drawing/2014/main" id="{30B0DE83-D40E-534F-396D-0C594D2DA49E}"/>
              </a:ext>
            </a:extLst>
          </p:cNvPr>
          <p:cNvSpPr/>
          <p:nvPr/>
        </p:nvSpPr>
        <p:spPr>
          <a:xfrm>
            <a:off x="8860536" y="3318510"/>
            <a:ext cx="384048" cy="502920"/>
          </a:xfrm>
          <a:prstGeom prst="rect">
            <a:avLst/>
          </a:prstGeom>
          <a:solidFill>
            <a:srgbClr val="E8F8F5"/>
          </a:solidFill>
          <a:ln w="12700">
            <a:solidFill>
              <a:srgbClr val="21B0A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1F39"/>
                </a:solidFill>
              </a:rPr>
              <a:t>0</a:t>
            </a:r>
            <a:endParaRPr lang="en-US" sz="1200" dirty="0"/>
          </a:p>
        </p:txBody>
      </p:sp>
      <p:sp>
        <p:nvSpPr>
          <p:cNvPr id="58" name="Text 30">
            <a:extLst>
              <a:ext uri="{FF2B5EF4-FFF2-40B4-BE49-F238E27FC236}">
                <a16:creationId xmlns:a16="http://schemas.microsoft.com/office/drawing/2014/main" id="{9FAB500B-726F-4BB8-24EF-4E2F3A547B7A}"/>
              </a:ext>
            </a:extLst>
          </p:cNvPr>
          <p:cNvSpPr/>
          <p:nvPr/>
        </p:nvSpPr>
        <p:spPr>
          <a:xfrm>
            <a:off x="9253728" y="3310890"/>
            <a:ext cx="384048" cy="502920"/>
          </a:xfrm>
          <a:prstGeom prst="rect">
            <a:avLst/>
          </a:prstGeom>
          <a:solidFill>
            <a:srgbClr val="E8F8F5"/>
          </a:solidFill>
          <a:ln w="12700">
            <a:solidFill>
              <a:srgbClr val="21B0A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1F39"/>
                </a:solidFill>
              </a:rPr>
              <a:t>0</a:t>
            </a:r>
            <a:endParaRPr lang="en-US" sz="1200" dirty="0"/>
          </a:p>
        </p:txBody>
      </p:sp>
      <p:sp>
        <p:nvSpPr>
          <p:cNvPr id="60" name="Text 30">
            <a:extLst>
              <a:ext uri="{FF2B5EF4-FFF2-40B4-BE49-F238E27FC236}">
                <a16:creationId xmlns:a16="http://schemas.microsoft.com/office/drawing/2014/main" id="{BCEF48A0-13C7-1C92-DABF-13C6EB380B49}"/>
              </a:ext>
            </a:extLst>
          </p:cNvPr>
          <p:cNvSpPr/>
          <p:nvPr/>
        </p:nvSpPr>
        <p:spPr>
          <a:xfrm>
            <a:off x="9646920" y="3318510"/>
            <a:ext cx="384048" cy="502920"/>
          </a:xfrm>
          <a:prstGeom prst="rect">
            <a:avLst/>
          </a:prstGeom>
          <a:solidFill>
            <a:srgbClr val="E8F8F5"/>
          </a:solidFill>
          <a:ln w="12700">
            <a:solidFill>
              <a:srgbClr val="21B0A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1F39"/>
                </a:solidFill>
              </a:rPr>
              <a:t>0</a:t>
            </a:r>
            <a:endParaRPr lang="en-US" sz="1200" dirty="0"/>
          </a:p>
        </p:txBody>
      </p:sp>
      <p:sp>
        <p:nvSpPr>
          <p:cNvPr id="62" name="Text 30">
            <a:extLst>
              <a:ext uri="{FF2B5EF4-FFF2-40B4-BE49-F238E27FC236}">
                <a16:creationId xmlns:a16="http://schemas.microsoft.com/office/drawing/2014/main" id="{1F25CA74-4B69-9095-B056-CFFCBBED777D}"/>
              </a:ext>
            </a:extLst>
          </p:cNvPr>
          <p:cNvSpPr/>
          <p:nvPr/>
        </p:nvSpPr>
        <p:spPr>
          <a:xfrm>
            <a:off x="10021824" y="3318510"/>
            <a:ext cx="384048" cy="502920"/>
          </a:xfrm>
          <a:prstGeom prst="rect">
            <a:avLst/>
          </a:prstGeom>
          <a:solidFill>
            <a:srgbClr val="E8F8F5"/>
          </a:solidFill>
          <a:ln w="12700">
            <a:solidFill>
              <a:srgbClr val="21B0A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1F39"/>
                </a:solidFill>
              </a:rPr>
              <a:t>0</a:t>
            </a:r>
            <a:endParaRPr lang="en-US" sz="1200" dirty="0"/>
          </a:p>
        </p:txBody>
      </p:sp>
      <p:sp>
        <p:nvSpPr>
          <p:cNvPr id="64" name="Text 30">
            <a:extLst>
              <a:ext uri="{FF2B5EF4-FFF2-40B4-BE49-F238E27FC236}">
                <a16:creationId xmlns:a16="http://schemas.microsoft.com/office/drawing/2014/main" id="{C5ED7073-F5BB-3923-0BA0-0A9A15F86E89}"/>
              </a:ext>
            </a:extLst>
          </p:cNvPr>
          <p:cNvSpPr/>
          <p:nvPr/>
        </p:nvSpPr>
        <p:spPr>
          <a:xfrm>
            <a:off x="10412730" y="3316986"/>
            <a:ext cx="384048" cy="502920"/>
          </a:xfrm>
          <a:prstGeom prst="rect">
            <a:avLst/>
          </a:prstGeom>
          <a:solidFill>
            <a:srgbClr val="E8F8F5"/>
          </a:solidFill>
          <a:ln w="12700">
            <a:solidFill>
              <a:srgbClr val="21B0A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1F39"/>
                </a:solidFill>
              </a:rPr>
              <a:t>0</a:t>
            </a:r>
            <a:endParaRPr lang="en-US" sz="1200" dirty="0"/>
          </a:p>
        </p:txBody>
      </p:sp>
      <p:sp>
        <p:nvSpPr>
          <p:cNvPr id="65" name="Footer Placeholder 64">
            <a:extLst>
              <a:ext uri="{FF2B5EF4-FFF2-40B4-BE49-F238E27FC236}">
                <a16:creationId xmlns:a16="http://schemas.microsoft.com/office/drawing/2014/main" id="{7A3D9596-3CE0-1DE0-5355-782F4A1E6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04888" y="6146868"/>
            <a:ext cx="4248911" cy="180000"/>
          </a:xfrm>
        </p:spPr>
        <p:txBody>
          <a:bodyPr/>
          <a:lstStyle/>
          <a:p>
            <a:r>
              <a:rPr lang="en-US" dirty="0"/>
              <a:t>Data Structures and Algorithms, Week 3 </a:t>
            </a:r>
            <a:endParaRPr lang="en-IE" dirty="0"/>
          </a:p>
        </p:txBody>
      </p:sp>
      <p:sp>
        <p:nvSpPr>
          <p:cNvPr id="66" name="Slide Number Placeholder 65">
            <a:extLst>
              <a:ext uri="{FF2B5EF4-FFF2-40B4-BE49-F238E27FC236}">
                <a16:creationId xmlns:a16="http://schemas.microsoft.com/office/drawing/2014/main" id="{2AE23306-9179-B38B-C790-383E6406F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11</a:t>
            </a:fld>
            <a:endParaRPr lang="en-I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Working with Vector Iterators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An iterator marks a position inside the vector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1064240" y="219456"/>
            <a:ext cx="585216" cy="5852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07008"/>
            <a:ext cx="5257800" cy="2834640"/>
          </a:xfrm>
          <a:prstGeom prst="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std::vector&lt;int&gt; scores {50, 20, 80};</a:t>
            </a:r>
            <a:endParaRPr lang="en-US" sz="1550" dirty="0"/>
          </a:p>
          <a:p>
            <a:pPr marL="0" indent="0">
              <a:buNone/>
            </a:pP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it = scores.begin();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std::cout &lt;&lt; *it;</a:t>
            </a:r>
            <a:endParaRPr lang="en-US" sz="1550" dirty="0"/>
          </a:p>
          <a:p>
            <a:pPr marL="0" indent="0">
              <a:buNone/>
            </a:pP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++it;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*it = 25;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766560" y="1417320"/>
            <a:ext cx="914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50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680960" y="1417320"/>
            <a:ext cx="914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20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595360" y="1417320"/>
            <a:ext cx="914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80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059168" y="22860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</a:rPr>
              <a:t>it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14616" y="2212848"/>
            <a:ext cx="0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44652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After ++it and *it = 25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66560" y="3703320"/>
            <a:ext cx="914400" cy="658368"/>
          </a:xfrm>
          <a:prstGeom prst="rect">
            <a:avLst/>
          </a:prstGeom>
          <a:solidFill>
            <a:srgbClr val="ECFEFF"/>
          </a:solidFill>
          <a:ln w="12700">
            <a:solidFill>
              <a:srgbClr val="14B8A6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50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680960" y="3703320"/>
            <a:ext cx="914400" cy="658368"/>
          </a:xfrm>
          <a:prstGeom prst="rect">
            <a:avLst/>
          </a:prstGeom>
          <a:solidFill>
            <a:srgbClr val="ECFEFF"/>
          </a:solidFill>
          <a:ln w="12700">
            <a:solidFill>
              <a:srgbClr val="14B8A6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25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595360" y="3703320"/>
            <a:ext cx="914400" cy="658368"/>
          </a:xfrm>
          <a:prstGeom prst="rect">
            <a:avLst/>
          </a:prstGeom>
          <a:solidFill>
            <a:srgbClr val="ECFEFF"/>
          </a:solidFill>
          <a:ln w="12700">
            <a:solidFill>
              <a:srgbClr val="14B8A6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80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4983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</a:rPr>
              <a:t>An iterator can be used to read or modify the current element.</a:t>
            </a:r>
            <a:endParaRPr lang="en-US" sz="200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5FD94A91-92A6-B7E7-11E1-10CDCDDF3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14616" y="6124008"/>
            <a:ext cx="4139183" cy="210498"/>
          </a:xfrm>
        </p:spPr>
        <p:txBody>
          <a:bodyPr/>
          <a:lstStyle/>
          <a:p>
            <a:r>
              <a:rPr lang="en-US" dirty="0"/>
              <a:t>Data Structures and Algorithms, Week 3 </a:t>
            </a:r>
            <a:endParaRPr lang="en-IE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4156EC9F-238F-15A2-F2D7-4ADE2C7E7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12</a:t>
            </a:fld>
            <a:endParaRPr lang="en-I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Inserting and Erasing Elements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Changing the middle of a vector may move other elements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4846320" cy="960120"/>
          </a:xfrm>
          <a:prstGeom prst="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it = scores.begin();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scores.insert(it, 100);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583680" y="11887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75569"/>
                </a:solidFill>
              </a:rPr>
              <a:t>Before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0" y="1508760"/>
            <a:ext cx="777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50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60920" y="1508760"/>
            <a:ext cx="777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20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138160" y="1508760"/>
            <a:ext cx="777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80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0" y="2331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75569"/>
                </a:solidFill>
              </a:rPr>
              <a:t>After insert at begin()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2651760"/>
            <a:ext cx="7772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100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60920" y="2651760"/>
            <a:ext cx="7772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50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38160" y="2651760"/>
            <a:ext cx="7772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20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915400" y="2651760"/>
            <a:ext cx="7772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80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" y="3767328"/>
            <a:ext cx="4846320" cy="566928"/>
          </a:xfrm>
          <a:prstGeom prst="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scores.erase(scores.begin());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583680" y="3657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75569"/>
                </a:solidFill>
              </a:rPr>
              <a:t>After erase begin()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3977640"/>
            <a:ext cx="777240" cy="5486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50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360920" y="3977640"/>
            <a:ext cx="777240" cy="5486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20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138160" y="3977640"/>
            <a:ext cx="777240" cy="5486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80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60120" y="5120640"/>
            <a:ext cx="101955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Observation: vector keeps items in order, so inserting/removing near the front can shift many elements.</a:t>
            </a:r>
            <a:endParaRPr lang="en-US" sz="1800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526FE248-9527-EE56-80DF-F312108BA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0980" y="6112578"/>
            <a:ext cx="3512819" cy="247074"/>
          </a:xfrm>
        </p:spPr>
        <p:txBody>
          <a:bodyPr/>
          <a:lstStyle/>
          <a:p>
            <a:r>
              <a:rPr lang="en-US" dirty="0"/>
              <a:t>Data Structures and Algorithms, Week 3 </a:t>
            </a:r>
            <a:endParaRPr lang="en-IE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CCC10D67-DA82-AED8-9C63-DC14648B3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13</a:t>
            </a:fld>
            <a:endParaRPr lang="en-I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 Careful: Iterators Can Become Invalid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A common source of confusing vector bugs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1207008"/>
            <a:ext cx="5303520" cy="2697480"/>
          </a:xfrm>
          <a:prstGeom prst="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std::vector&lt;int&gt; scores {10, 20, 30};</a:t>
            </a:r>
            <a:endParaRPr lang="en-US" sz="1550" dirty="0"/>
          </a:p>
          <a:p>
            <a:pPr marL="0" indent="0">
              <a:buNone/>
            </a:pP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it = scores.begin();</a:t>
            </a:r>
            <a:endParaRPr lang="en-US" sz="1550" dirty="0"/>
          </a:p>
          <a:p>
            <a:pPr marL="0" indent="0">
              <a:buNone/>
            </a:pP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scores.push_back(40);</a:t>
            </a:r>
            <a:endParaRPr lang="en-US" sz="1550" dirty="0"/>
          </a:p>
          <a:p>
            <a:pPr marL="0" indent="0">
              <a:buNone/>
            </a:pP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Can we always use it now?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675120" y="1234440"/>
            <a:ext cx="2834640" cy="548640"/>
          </a:xfrm>
          <a:prstGeom prst="rect">
            <a:avLst/>
          </a:prstGeom>
          <a:solidFill>
            <a:srgbClr val="FEE2E2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</a:rPr>
              <a:t>Not necessarily.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46520" y="2148840"/>
            <a:ext cx="46177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0F172A"/>
                </a:solidFill>
              </a:rPr>
              <a:t>If the vector reallocates its storage, old iterators may point to old memory.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92240" y="3337560"/>
            <a:ext cx="1645920" cy="32004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5569"/>
                </a:solidFill>
              </a:rPr>
              <a:t>OLD MEMORY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3767328"/>
            <a:ext cx="594360" cy="420624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10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86600" y="3767328"/>
            <a:ext cx="594360" cy="420624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20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80960" y="3767328"/>
            <a:ext cx="594360" cy="420624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30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97880" y="425196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</a:rPr>
              <a:t>it →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23960" y="3337560"/>
            <a:ext cx="1645920" cy="32004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5569"/>
                </a:solidFill>
              </a:rPr>
              <a:t>NEW MEMORY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823960" y="3767328"/>
            <a:ext cx="502920" cy="420624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10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26880" y="3767328"/>
            <a:ext cx="502920" cy="420624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20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829800" y="3767328"/>
            <a:ext cx="502920" cy="420624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30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32720" y="3767328"/>
            <a:ext cx="502920" cy="420624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40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25830" y="488746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172A"/>
                </a:solidFill>
              </a:rPr>
              <a:t>Safe habit: after insert/erase/push_back operations, do not blindly reuse old iterators.</a:t>
            </a:r>
            <a:endParaRPr lang="en-US" sz="1900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3A57A457-0BBF-0595-6893-915BD7157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3770" y="6146868"/>
            <a:ext cx="4050029" cy="180000"/>
          </a:xfrm>
        </p:spPr>
        <p:txBody>
          <a:bodyPr/>
          <a:lstStyle/>
          <a:p>
            <a:r>
              <a:rPr lang="en-US" dirty="0"/>
              <a:t>Data Structures and Algorithms, Week 3 </a:t>
            </a:r>
            <a:endParaRPr lang="en-IE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A3C92B9-B2AA-B9EF-43DC-CD0AC7D3E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14</a:t>
            </a:fld>
            <a:endParaRPr lang="en-I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Search by Value vs Search by Condition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find() is useful, but sometimes we need more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68680" y="1280160"/>
            <a:ext cx="4389120" cy="411480"/>
          </a:xfrm>
          <a:prstGeom prst="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563EB"/>
                </a:solidFill>
              </a:rPr>
              <a:t>Search by exact value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4389120" cy="841248"/>
          </a:xfrm>
          <a:prstGeom prst="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std::find(scores.begin(), scores.end(), 80);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0" y="1280160"/>
            <a:ext cx="4389120" cy="411480"/>
          </a:xfrm>
          <a:prstGeom prst="rect">
            <a:avLst/>
          </a:prstGeom>
          <a:solidFill>
            <a:srgbClr val="ECFEFF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B8A6"/>
                </a:solidFill>
              </a:rPr>
              <a:t>Search by condition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0" y="1828800"/>
            <a:ext cx="4389120" cy="841248"/>
          </a:xfrm>
          <a:prstGeom prst="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the first enemy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whose health is below 20.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51560" y="3886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</a:rPr>
              <a:t>Problem: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057400" y="388620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For a condition, we need a small piece of logic that returns true or false.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461772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75569"/>
                </a:solidFill>
              </a:rPr>
              <a:t>That logic is called a predicate. In modern C++, we often write it as a lambda.</a:t>
            </a:r>
            <a:endParaRPr lang="en-US" sz="1800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E2D9FDA-C9B8-AA15-3F13-F0D691786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63840" y="6146868"/>
            <a:ext cx="3489959" cy="182562"/>
          </a:xfrm>
        </p:spPr>
        <p:txBody>
          <a:bodyPr/>
          <a:lstStyle/>
          <a:p>
            <a:r>
              <a:rPr lang="en-US" dirty="0"/>
              <a:t>Data Structures and Algorithms, Week 3 </a:t>
            </a:r>
            <a:endParaRPr lang="en-IE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09CBC61-D009-FEA9-BBBF-508A841A1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15</a:t>
            </a:fld>
            <a:endParaRPr lang="en-IE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Lambda: A Small Function Where We Need It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A predicate returns true or false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4754880" cy="1645920"/>
          </a:xfrm>
          <a:prstGeom prst="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[](int health)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health &lt; 20;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1234440"/>
            <a:ext cx="731520" cy="411480"/>
          </a:xfrm>
          <a:prstGeom prst="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[]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223760" y="13167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capture list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1965960"/>
            <a:ext cx="1645920" cy="411480"/>
          </a:xfrm>
          <a:prstGeom prst="rect">
            <a:avLst/>
          </a:prstGeom>
          <a:solidFill>
            <a:srgbClr val="ECFEFF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B8A6"/>
                </a:solidFill>
              </a:rPr>
              <a:t>(int health)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0" y="204825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input parameter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2697480"/>
            <a:ext cx="2926080" cy="411480"/>
          </a:xfrm>
          <a:prstGeom prst="rect">
            <a:avLst/>
          </a:prstGeom>
          <a:solidFill>
            <a:srgbClr val="FEF3C7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</a:rPr>
              <a:t>return health &lt; 20;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509760" y="27797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true / false condition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315968"/>
            <a:ext cx="99669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172A"/>
                </a:solidFill>
              </a:rPr>
              <a:t>Predicate: a condition used by an algorithm to make a decision.</a:t>
            </a:r>
            <a:endParaRPr lang="en-US" sz="2100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F8BEBAD-402A-D567-19F8-50BE00E97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32370" y="6135438"/>
            <a:ext cx="3821429" cy="182562"/>
          </a:xfrm>
        </p:spPr>
        <p:txBody>
          <a:bodyPr/>
          <a:lstStyle/>
          <a:p>
            <a:r>
              <a:rPr lang="en-US" dirty="0"/>
              <a:t>Data Structures and Algorithms, Week 3 </a:t>
            </a:r>
            <a:endParaRPr lang="en-I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5133D82-AEC1-CC91-A580-E7C2AD4C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16</a:t>
            </a:fld>
            <a:endParaRPr lang="en-I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1" grpId="0" animBg="1"/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find_if(): Search Using a Condition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Find the first element that satisfies the predicate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5669280" cy="2788920"/>
          </a:xfrm>
          <a:prstGeom prst="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std::vector&lt;int&gt; health {80, 55, 15, 60};</a:t>
            </a:r>
            <a:endParaRPr lang="en-US" sz="1470" dirty="0"/>
          </a:p>
          <a:p>
            <a:pPr marL="0" indent="0">
              <a:buNone/>
            </a:pPr>
            <a:endParaRPr lang="en-US" sz="1470" dirty="0"/>
          </a:p>
          <a:p>
            <a:pPr marL="0" indent="0">
              <a:buNone/>
            </a:pPr>
            <a:r>
              <a:rPr lang="en-US" sz="147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it = std::find_if(</a:t>
            </a:r>
            <a:endParaRPr lang="en-US" sz="1470" dirty="0"/>
          </a:p>
          <a:p>
            <a:pPr marL="0" indent="0">
              <a:buNone/>
            </a:pPr>
            <a:r>
              <a:rPr lang="en-US" sz="147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health.begin(),</a:t>
            </a:r>
            <a:endParaRPr lang="en-US" sz="1470" dirty="0"/>
          </a:p>
          <a:p>
            <a:pPr marL="0" indent="0">
              <a:buNone/>
            </a:pPr>
            <a:r>
              <a:rPr lang="en-US" sz="147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health.end(),</a:t>
            </a:r>
            <a:endParaRPr lang="en-US" sz="1470" dirty="0"/>
          </a:p>
          <a:p>
            <a:pPr marL="0" indent="0">
              <a:buNone/>
            </a:pPr>
            <a:r>
              <a:rPr lang="en-US" sz="147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[](int h) { return h &lt; 20; }</a:t>
            </a:r>
            <a:endParaRPr lang="en-US" sz="1470" dirty="0"/>
          </a:p>
          <a:p>
            <a:pPr marL="0" indent="0">
              <a:buNone/>
            </a:pPr>
            <a:r>
              <a:rPr lang="en-US" sz="147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70" dirty="0"/>
          </a:p>
        </p:txBody>
      </p:sp>
      <p:sp>
        <p:nvSpPr>
          <p:cNvPr id="6" name="Text 4"/>
          <p:cNvSpPr/>
          <p:nvPr/>
        </p:nvSpPr>
        <p:spPr>
          <a:xfrm>
            <a:off x="7040880" y="1463040"/>
            <a:ext cx="822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80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863840" y="1463040"/>
            <a:ext cx="822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55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0" y="1463040"/>
            <a:ext cx="822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15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509760" y="1463040"/>
            <a:ext cx="822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60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296912" y="233172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❌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19872" y="233172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❌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924544" y="230428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052560" y="27432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it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62288" y="2697480"/>
            <a:ext cx="0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675120" y="3840480"/>
            <a:ext cx="1965960" cy="713232"/>
          </a:xfrm>
          <a:prstGeom prst="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563EB"/>
                </a:solidFill>
              </a:rPr>
              <a:t>find()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2563EB"/>
                </a:solidFill>
              </a:rPr>
              <a:t>Find this value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006840" y="3840480"/>
            <a:ext cx="2560320" cy="713232"/>
          </a:xfrm>
          <a:prstGeom prst="rect">
            <a:avLst/>
          </a:prstGeom>
          <a:solidFill>
            <a:srgbClr val="ECFEFF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4B8A6"/>
                </a:solidFill>
              </a:rPr>
              <a:t>find_if()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14B8A6"/>
                </a:solidFill>
              </a:rPr>
              <a:t>Find the first match for this condition</a:t>
            </a:r>
            <a:endParaRPr lang="en-US" sz="15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623E35-4F34-B244-EAE1-2746882C61DA}"/>
              </a:ext>
            </a:extLst>
          </p:cNvPr>
          <p:cNvSpPr txBox="1"/>
          <p:nvPr/>
        </p:nvSpPr>
        <p:spPr>
          <a:xfrm>
            <a:off x="467488" y="2042845"/>
            <a:ext cx="10871072" cy="58477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rgbClr val="FF0000"/>
                </a:solidFill>
              </a:rPr>
              <a:t>find_if</a:t>
            </a:r>
            <a:r>
              <a:rPr lang="en-US" sz="3200" b="1" dirty="0">
                <a:solidFill>
                  <a:srgbClr val="FF0000"/>
                </a:solidFill>
              </a:rPr>
              <a:t>() = find the first element that matches the condition.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36726DB8-F6F9-D92A-812E-43E23B5D9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26680" y="6135438"/>
            <a:ext cx="3627119" cy="182562"/>
          </a:xfrm>
        </p:spPr>
        <p:txBody>
          <a:bodyPr/>
          <a:lstStyle/>
          <a:p>
            <a:r>
              <a:rPr lang="en-US" dirty="0"/>
              <a:t>Data Structures and Algorithms, Week 3 </a:t>
            </a:r>
            <a:endParaRPr lang="en-IE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0F68D44B-3244-020E-6DCE-7A97ABB16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17</a:t>
            </a:fld>
            <a:endParaRPr lang="en-I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Game Example: Find an Enemy by Condition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The same idea works with structs and objects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77240" y="1143000"/>
            <a:ext cx="3886200" cy="2514600"/>
          </a:xfrm>
          <a:prstGeom prst="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Enemy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std::string name;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health;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score;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66360" y="1143000"/>
            <a:ext cx="6080760" cy="2514600"/>
          </a:xfrm>
          <a:prstGeom prst="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it = std::find_if(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enemies.begin(),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enemies.end(),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[](const Enemy&amp; e)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e.health &lt; 20;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2560320" cy="41148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75569"/>
                </a:solidFill>
              </a:rPr>
              <a:t>Why const Enemy&amp; 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703320" y="4370832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</a:rPr>
              <a:t>We read the enemy without copying it and without changing it.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120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Class check: How would you change the condition to find enemies with score above 500?</a:t>
            </a:r>
            <a:endParaRPr lang="en-US" sz="180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D627DD9-F44A-318E-D6BA-C84107CC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35240" y="6146868"/>
            <a:ext cx="3718559" cy="182562"/>
          </a:xfrm>
        </p:spPr>
        <p:txBody>
          <a:bodyPr/>
          <a:lstStyle/>
          <a:p>
            <a:r>
              <a:rPr lang="en-US" dirty="0"/>
              <a:t>Data Structures and Algorithms, Week 3 </a:t>
            </a:r>
            <a:endParaRPr lang="en-IE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E4FEB96-8D19-57AB-A8B9-3D28C5858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18</a:t>
            </a:fld>
            <a:endParaRPr lang="en-IE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remove_if() Actually Does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It moves the elements we want to keep toward the front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43000" y="1417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75569"/>
                </a:solidFill>
              </a:rPr>
              <a:t>Before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148840" y="1298448"/>
            <a:ext cx="731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50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880360" y="1298448"/>
            <a:ext cx="731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0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11880" y="1298448"/>
            <a:ext cx="731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80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343400" y="1298448"/>
            <a:ext cx="731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0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74920" y="1298448"/>
            <a:ext cx="731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30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43400" y="2377440"/>
            <a:ext cx="0" cy="749808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143000" y="3063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75569"/>
                </a:solidFill>
              </a:rPr>
              <a:t>After remove_if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17520" y="3547872"/>
            <a:ext cx="731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50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749040" y="3547872"/>
            <a:ext cx="731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80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480560" y="3547872"/>
            <a:ext cx="731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30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212080" y="3547872"/>
            <a:ext cx="731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?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943600" y="3547872"/>
            <a:ext cx="731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?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166360" y="431596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newEnd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504688" y="4279392"/>
            <a:ext cx="0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3017520" y="4800600"/>
            <a:ext cx="2103120" cy="411480"/>
          </a:xfrm>
          <a:prstGeom prst="rect">
            <a:avLst/>
          </a:prstGeom>
          <a:solidFill>
            <a:srgbClr val="DCFCE7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</a:rPr>
              <a:t>Valid kept range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0" y="4800600"/>
            <a:ext cx="2103120" cy="41148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75569"/>
                </a:solidFill>
              </a:rPr>
              <a:t>Old leftover area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83880" y="2834640"/>
            <a:ext cx="2514600" cy="640080"/>
          </a:xfrm>
          <a:prstGeom prst="rect">
            <a:avLst/>
          </a:prstGeom>
          <a:solidFill>
            <a:srgbClr val="FFF7ED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</a:rPr>
              <a:t>size() is not reduced yet.</a:t>
            </a:r>
            <a:endParaRPr lang="en-US" sz="2000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1277E09C-4A85-21C2-CE81-F6E88A4D8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63790" y="6146868"/>
            <a:ext cx="3890009" cy="180000"/>
          </a:xfrm>
        </p:spPr>
        <p:txBody>
          <a:bodyPr/>
          <a:lstStyle/>
          <a:p>
            <a:r>
              <a:rPr lang="en-US" dirty="0"/>
              <a:t>Data Structures and Algorithms, Week 3 </a:t>
            </a:r>
            <a:endParaRPr lang="en-IE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A38BB394-9A6A-DF9A-5B12-114CD460C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19</a:t>
            </a:fld>
            <a:endParaRPr lang="en-IE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Erase-Remove Idiom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Algorithm decides; container erases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77240" y="1051560"/>
            <a:ext cx="5806440" cy="3291840"/>
          </a:xfrm>
          <a:prstGeom prst="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health.erase(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std::remove_if(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health.begin(),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health.end(),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[](int h) { return h == 0; }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health.end()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30" dirty="0"/>
          </a:p>
        </p:txBody>
      </p:sp>
      <p:sp>
        <p:nvSpPr>
          <p:cNvPr id="6" name="Text 4"/>
          <p:cNvSpPr/>
          <p:nvPr/>
        </p:nvSpPr>
        <p:spPr>
          <a:xfrm>
            <a:off x="7086600" y="1280160"/>
            <a:ext cx="2377440" cy="475488"/>
          </a:xfrm>
          <a:prstGeom prst="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563EB"/>
                </a:solidFill>
              </a:rPr>
              <a:t>1. remove_if()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903720" y="1938528"/>
            <a:ext cx="36576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650" dirty="0">
                <a:solidFill>
                  <a:srgbClr val="475569"/>
                </a:solidFill>
              </a:rPr>
              <a:t>Rearranges values and returns the new logical end.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229600" y="2606040"/>
            <a:ext cx="0" cy="594360"/>
          </a:xfrm>
          <a:prstGeom prst="line">
            <a:avLst/>
          </a:prstGeom>
          <a:noFill/>
          <a:ln w="2032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7086600" y="3401568"/>
            <a:ext cx="2377440" cy="475488"/>
          </a:xfrm>
          <a:prstGeom prst="rect">
            <a:avLst/>
          </a:prstGeom>
          <a:solidFill>
            <a:srgbClr val="ECFEFF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4B8A6"/>
                </a:solidFill>
              </a:rPr>
              <a:t>2. erase()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903720" y="4069080"/>
            <a:ext cx="36576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650" dirty="0">
                <a:solidFill>
                  <a:srgbClr val="475569"/>
                </a:solidFill>
              </a:rPr>
              <a:t>Actually, removes the unwanted tail from the vector.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040880" y="49651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75569"/>
                </a:solidFill>
              </a:rPr>
              <a:t>Final vector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869680" y="4800600"/>
            <a:ext cx="713232" cy="530352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50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582912" y="4800600"/>
            <a:ext cx="713232" cy="530352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80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296144" y="4800600"/>
            <a:ext cx="713232" cy="530352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30</a:t>
            </a:r>
            <a:endParaRPr lang="en-US" sz="1700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06DCB5-3015-0CB0-3E76-07FC5828E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0" y="6124008"/>
            <a:ext cx="3764279" cy="228600"/>
          </a:xfrm>
        </p:spPr>
        <p:txBody>
          <a:bodyPr/>
          <a:lstStyle/>
          <a:p>
            <a:r>
              <a:rPr lang="en-US" dirty="0"/>
              <a:t>Data Structures and Algorithms, Week 3 </a:t>
            </a:r>
            <a:endParaRPr lang="en-IE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F316E0D8-EE91-F5C1-65BB-FA8EE027C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20</a:t>
            </a:fld>
            <a:endParaRPr lang="en-IE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Putting It All Into a Game Context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Managing enemies with vector + algorithms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77240" y="1097280"/>
            <a:ext cx="4160520" cy="2514600"/>
          </a:xfrm>
          <a:prstGeom prst="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Enemy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id;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std::string name;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health;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score;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480" dirty="0"/>
          </a:p>
          <a:p>
            <a:pPr marL="0" indent="0">
              <a:buNone/>
            </a:pP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std::vector&lt;Enemy&gt; enemies;</a:t>
            </a:r>
            <a:endParaRPr lang="en-US" sz="1480" dirty="0"/>
          </a:p>
        </p:txBody>
      </p:sp>
      <p:sp>
        <p:nvSpPr>
          <p:cNvPr id="6" name="Text 4"/>
          <p:cNvSpPr/>
          <p:nvPr/>
        </p:nvSpPr>
        <p:spPr>
          <a:xfrm>
            <a:off x="5577840" y="1143000"/>
            <a:ext cx="23317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F172A"/>
                </a:solidFill>
              </a:rPr>
              <a:t>Add enemy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001000" y="1143000"/>
            <a:ext cx="3017520" cy="438912"/>
          </a:xfrm>
          <a:prstGeom prst="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563EB"/>
                </a:solidFill>
              </a:rPr>
              <a:t>push_back()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577840" y="1764792"/>
            <a:ext cx="2331720" cy="43891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F172A"/>
                </a:solidFill>
              </a:rPr>
              <a:t>Find by condition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01000" y="1764792"/>
            <a:ext cx="3017520" cy="438912"/>
          </a:xfrm>
          <a:prstGeom prst="rect">
            <a:avLst/>
          </a:prstGeom>
          <a:solidFill>
            <a:srgbClr val="ECFEFF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4B8A6"/>
                </a:solidFill>
              </a:rPr>
              <a:t>find_if() + lambda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577840" y="2386584"/>
            <a:ext cx="23317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F172A"/>
                </a:solidFill>
              </a:rPr>
              <a:t>Sort by score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01000" y="2386584"/>
            <a:ext cx="3017520" cy="438912"/>
          </a:xfrm>
          <a:prstGeom prst="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563EB"/>
                </a:solidFill>
              </a:rPr>
              <a:t>sort() + lambda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577840" y="3008376"/>
            <a:ext cx="2331720" cy="43891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F172A"/>
                </a:solidFill>
              </a:rPr>
              <a:t>Remove defeated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001000" y="3008376"/>
            <a:ext cx="3017520" cy="438912"/>
          </a:xfrm>
          <a:prstGeom prst="rect">
            <a:avLst/>
          </a:prstGeom>
          <a:solidFill>
            <a:srgbClr val="ECFEFF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4B8A6"/>
                </a:solidFill>
              </a:rPr>
              <a:t>remove_if() + erase()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577840" y="3630168"/>
            <a:ext cx="23317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F172A"/>
                </a:solidFill>
              </a:rPr>
              <a:t>Visit all enemies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001000" y="3630168"/>
            <a:ext cx="3017520" cy="438912"/>
          </a:xfrm>
          <a:prstGeom prst="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563EB"/>
                </a:solidFill>
              </a:rPr>
              <a:t>iterator / range loop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021080" y="4743450"/>
            <a:ext cx="101498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Lab transition: Wednesday = guided practice, Thursday = Enemy Manager challenge.</a:t>
            </a:r>
            <a:endParaRPr lang="en-US" sz="1800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29D4EC5B-51CE-B7BB-88CE-4B25AB8F4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98080" y="6146868"/>
            <a:ext cx="3855719" cy="180000"/>
          </a:xfrm>
        </p:spPr>
        <p:txBody>
          <a:bodyPr/>
          <a:lstStyle/>
          <a:p>
            <a:r>
              <a:rPr lang="en-US" dirty="0"/>
              <a:t>Data Structures and Algorithms, Week 3 </a:t>
            </a:r>
            <a:endParaRPr lang="en-IE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850E4E09-3024-4DFB-47CA-0D38A949D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21</a:t>
            </a:fld>
            <a:endParaRPr lang="en-IE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908AD9-3BEA-847C-2672-C86176A54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06690" y="6146868"/>
            <a:ext cx="3547109" cy="180000"/>
          </a:xfrm>
        </p:spPr>
        <p:txBody>
          <a:bodyPr/>
          <a:lstStyle/>
          <a:p>
            <a:r>
              <a:rPr lang="en-US" dirty="0"/>
              <a:t>Data Structures and Algorithms, Week 3 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8540FF-85B8-B896-D9EF-9B11212C1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pPr/>
              <a:t>22</a:t>
            </a:fld>
            <a:endParaRPr lang="en-IE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8E37253-D75A-5F8C-4C45-CB66082E77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just"/>
            <a:r>
              <a:rPr lang="en-US" dirty="0"/>
              <a:t>Question and Answers</a:t>
            </a:r>
          </a:p>
          <a:p>
            <a:endParaRPr lang="en-US" dirty="0"/>
          </a:p>
          <a:p>
            <a:pPr algn="just"/>
            <a:r>
              <a:rPr lang="en-US" dirty="0"/>
              <a:t>Let's use it in tomorrow lab</a:t>
            </a:r>
          </a:p>
        </p:txBody>
      </p:sp>
    </p:spTree>
    <p:extLst>
      <p:ext uri="{BB962C8B-B14F-4D97-AF65-F5344CB8AC3E}">
        <p14:creationId xmlns:p14="http://schemas.microsoft.com/office/powerpoint/2010/main" val="876179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21EDCB449F27409E57881B74983F07" ma:contentTypeVersion="15" ma:contentTypeDescription="Create a new document." ma:contentTypeScope="" ma:versionID="e8cbf1bc234d9e75b3fb47cf0ddbe8d2">
  <xsd:schema xmlns:xsd="http://www.w3.org/2001/XMLSchema" xmlns:xs="http://www.w3.org/2001/XMLSchema" xmlns:p="http://schemas.microsoft.com/office/2006/metadata/properties" xmlns:ns2="c2604f75-035f-4bcf-b8d3-05bab17d453d" xmlns:ns3="e6b9e509-b424-4da0-b943-ec4d48415bba" targetNamespace="http://schemas.microsoft.com/office/2006/metadata/properties" ma:root="true" ma:fieldsID="cb20f4739b4a7f2dc429abb756e3d79e" ns2:_="" ns3:_="">
    <xsd:import namespace="c2604f75-035f-4bcf-b8d3-05bab17d453d"/>
    <xsd:import namespace="e6b9e509-b424-4da0-b943-ec4d48415b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604f75-035f-4bcf-b8d3-05bab17d45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bddb5b50-755e-41d6-8a3f-9a0e5bc6dc6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b9e509-b424-4da0-b943-ec4d48415bba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58c067be-7639-43bd-96c4-89d39a4ba8b5}" ma:internalName="TaxCatchAll" ma:showField="CatchAllData" ma:web="e6b9e509-b424-4da0-b943-ec4d48415bb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2604f75-035f-4bcf-b8d3-05bab17d453d">
      <Terms xmlns="http://schemas.microsoft.com/office/infopath/2007/PartnerControls"/>
    </lcf76f155ced4ddcb4097134ff3c332f>
    <TaxCatchAll xmlns="e6b9e509-b424-4da0-b943-ec4d48415bba" xsi:nil="true"/>
  </documentManagement>
</p:properties>
</file>

<file path=customXml/itemProps1.xml><?xml version="1.0" encoding="utf-8"?>
<ds:datastoreItem xmlns:ds="http://schemas.openxmlformats.org/officeDocument/2006/customXml" ds:itemID="{F5C6B043-B5BB-471B-9B99-FD1860B9374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7B635CA-4AB6-4A6B-9A6B-BDEB154F41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2604f75-035f-4bcf-b8d3-05bab17d453d"/>
    <ds:schemaRef ds:uri="e6b9e509-b424-4da0-b943-ec4d48415bb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1999D6A-0D71-4B59-A360-B9C0B83F9120}">
  <ds:schemaRefs>
    <ds:schemaRef ds:uri="http://schemas.microsoft.com/office/2006/metadata/properties"/>
    <ds:schemaRef ds:uri="http://schemas.microsoft.com/office/infopath/2007/PartnerControls"/>
    <ds:schemaRef ds:uri="c2604f75-035f-4bcf-b8d3-05bab17d453d"/>
    <ds:schemaRef ds:uri="e6b9e509-b424-4da0-b943-ec4d48415bb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3207</TotalTime>
  <Words>2935</Words>
  <Application>Microsoft Office PowerPoint</Application>
  <PresentationFormat>Widescreen</PresentationFormat>
  <Paragraphs>545</Paragraphs>
  <Slides>22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5" baseType="lpstr">
      <vt:lpstr>.PingFang SC Regular</vt:lpstr>
      <vt:lpstr>Aptos</vt:lpstr>
      <vt:lpstr>Aptos Display</vt:lpstr>
      <vt:lpstr>Arial</vt:lpstr>
      <vt:lpstr>Calibri</vt:lpstr>
      <vt:lpstr>Cascadia Mono</vt:lpstr>
      <vt:lpstr>Consolas</vt:lpstr>
      <vt:lpstr>Courier New</vt:lpstr>
      <vt:lpstr>DM Sans</vt:lpstr>
      <vt:lpstr>Inter Medium</vt:lpstr>
      <vt:lpstr>Symbol</vt:lpstr>
      <vt:lpstr>Wingdings</vt:lpstr>
      <vt:lpstr>Office Theme</vt:lpstr>
      <vt:lpstr>PowerPoint Presentation</vt:lpstr>
      <vt:lpstr>Content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Valerie Haslam</dc:creator>
  <cp:lastModifiedBy>user</cp:lastModifiedBy>
  <cp:revision>77</cp:revision>
  <dcterms:created xsi:type="dcterms:W3CDTF">2022-04-27T16:58:52Z</dcterms:created>
  <dcterms:modified xsi:type="dcterms:W3CDTF">2026-09-17T21:59:26Z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0x0101005121EDCB449F27409E57881B74983F07</vt:lpwstr>
  </property>
  <property fmtid="{D5CDD505-2E9C-101B-9397-08002B2CF9AE}" pid="3" name="MediaServiceImageTags">
    <vt:lpwstr/>
  </property>
</Properties>
</file>